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embeddedFontLst>
    <p:embeddedFont>
      <p:font typeface="Lato" panose="020F0502020204030203"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0E264A-E514-A4CD-25A0-D8FC04849CA8}" v="8" dt="2026-06-09T08:46:14.824"/>
  </p1510:revLst>
</p1510:revInfo>
</file>

<file path=ppt/tableStyles.xml><?xml version="1.0" encoding="utf-8"?>
<a:tblStyleLst xmlns:a="http://schemas.openxmlformats.org/drawingml/2006/main" def="{DEE9F1D1-F1F4-424F-B4C9-14D242B3DB10}">
  <a:tblStyle styleId="{DEE9F1D1-F1F4-424F-B4C9-14D242B3DB1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rice Zore" userId="c13754f9768893d7" providerId="Windows Live" clId="Web-{B1D97AD1-E08C-12AE-5BE2-6FD9FC3143DB}"/>
    <pc:docChg chg="modSld">
      <pc:chgData name="Fabrice Zore" userId="c13754f9768893d7" providerId="Windows Live" clId="Web-{B1D97AD1-E08C-12AE-5BE2-6FD9FC3143DB}" dt="2026-06-05T10:47:51.669" v="175"/>
      <pc:docMkLst>
        <pc:docMk/>
      </pc:docMkLst>
      <pc:sldChg chg="modSp">
        <pc:chgData name="Fabrice Zore" userId="c13754f9768893d7" providerId="Windows Live" clId="Web-{B1D97AD1-E08C-12AE-5BE2-6FD9FC3143DB}" dt="2026-06-05T10:41:52.295" v="6" actId="20577"/>
        <pc:sldMkLst>
          <pc:docMk/>
          <pc:sldMk cId="0" sldId="258"/>
        </pc:sldMkLst>
        <pc:spChg chg="mod">
          <ac:chgData name="Fabrice Zore" userId="c13754f9768893d7" providerId="Windows Live" clId="Web-{B1D97AD1-E08C-12AE-5BE2-6FD9FC3143DB}" dt="2026-06-05T10:41:52.295" v="6" actId="20577"/>
          <ac:spMkLst>
            <pc:docMk/>
            <pc:sldMk cId="0" sldId="258"/>
            <ac:spMk id="67" creationId="{00000000-0000-0000-0000-000000000000}"/>
          </ac:spMkLst>
        </pc:spChg>
      </pc:sldChg>
      <pc:sldChg chg="modSp">
        <pc:chgData name="Fabrice Zore" userId="c13754f9768893d7" providerId="Windows Live" clId="Web-{B1D97AD1-E08C-12AE-5BE2-6FD9FC3143DB}" dt="2026-06-05T10:47:42.965" v="173"/>
        <pc:sldMkLst>
          <pc:docMk/>
          <pc:sldMk cId="0" sldId="262"/>
        </pc:sldMkLst>
        <pc:spChg chg="mod">
          <ac:chgData name="Fabrice Zore" userId="c13754f9768893d7" providerId="Windows Live" clId="Web-{B1D97AD1-E08C-12AE-5BE2-6FD9FC3143DB}" dt="2026-06-05T10:47:37.481" v="171"/>
          <ac:spMkLst>
            <pc:docMk/>
            <pc:sldMk cId="0" sldId="262"/>
            <ac:spMk id="90" creationId="{00000000-0000-0000-0000-000000000000}"/>
          </ac:spMkLst>
        </pc:spChg>
        <pc:spChg chg="mod">
          <ac:chgData name="Fabrice Zore" userId="c13754f9768893d7" providerId="Windows Live" clId="Web-{B1D97AD1-E08C-12AE-5BE2-6FD9FC3143DB}" dt="2026-06-05T10:47:37.481" v="170"/>
          <ac:spMkLst>
            <pc:docMk/>
            <pc:sldMk cId="0" sldId="262"/>
            <ac:spMk id="91" creationId="{00000000-0000-0000-0000-000000000000}"/>
          </ac:spMkLst>
        </pc:spChg>
        <pc:spChg chg="mod">
          <ac:chgData name="Fabrice Zore" userId="c13754f9768893d7" providerId="Windows Live" clId="Web-{B1D97AD1-E08C-12AE-5BE2-6FD9FC3143DB}" dt="2026-06-05T10:47:42.918" v="172"/>
          <ac:spMkLst>
            <pc:docMk/>
            <pc:sldMk cId="0" sldId="262"/>
            <ac:spMk id="92" creationId="{00000000-0000-0000-0000-000000000000}"/>
          </ac:spMkLst>
        </pc:spChg>
        <pc:spChg chg="mod">
          <ac:chgData name="Fabrice Zore" userId="c13754f9768893d7" providerId="Windows Live" clId="Web-{B1D97AD1-E08C-12AE-5BE2-6FD9FC3143DB}" dt="2026-06-05T10:47:42.965" v="173"/>
          <ac:spMkLst>
            <pc:docMk/>
            <pc:sldMk cId="0" sldId="262"/>
            <ac:spMk id="93" creationId="{00000000-0000-0000-0000-000000000000}"/>
          </ac:spMkLst>
        </pc:spChg>
      </pc:sldChg>
      <pc:sldChg chg="modSp">
        <pc:chgData name="Fabrice Zore" userId="c13754f9768893d7" providerId="Windows Live" clId="Web-{B1D97AD1-E08C-12AE-5BE2-6FD9FC3143DB}" dt="2026-06-05T10:47:51.669" v="175"/>
        <pc:sldMkLst>
          <pc:docMk/>
          <pc:sldMk cId="0" sldId="263"/>
        </pc:sldMkLst>
        <pc:spChg chg="mod">
          <ac:chgData name="Fabrice Zore" userId="c13754f9768893d7" providerId="Windows Live" clId="Web-{B1D97AD1-E08C-12AE-5BE2-6FD9FC3143DB}" dt="2026-06-05T10:47:51.622" v="174"/>
          <ac:spMkLst>
            <pc:docMk/>
            <pc:sldMk cId="0" sldId="263"/>
            <ac:spMk id="100" creationId="{00000000-0000-0000-0000-000000000000}"/>
          </ac:spMkLst>
        </pc:spChg>
        <pc:spChg chg="mod">
          <ac:chgData name="Fabrice Zore" userId="c13754f9768893d7" providerId="Windows Live" clId="Web-{B1D97AD1-E08C-12AE-5BE2-6FD9FC3143DB}" dt="2026-06-05T10:47:51.669" v="175"/>
          <ac:spMkLst>
            <pc:docMk/>
            <pc:sldMk cId="0" sldId="263"/>
            <ac:spMk id="101" creationId="{00000000-0000-0000-0000-000000000000}"/>
          </ac:spMkLst>
        </pc:spChg>
      </pc:sldChg>
      <pc:sldChg chg="modSp">
        <pc:chgData name="Fabrice Zore" userId="c13754f9768893d7" providerId="Windows Live" clId="Web-{B1D97AD1-E08C-12AE-5BE2-6FD9FC3143DB}" dt="2026-06-05T10:46:48.682" v="138"/>
        <pc:sldMkLst>
          <pc:docMk/>
          <pc:sldMk cId="0" sldId="271"/>
        </pc:sldMkLst>
        <pc:spChg chg="mod">
          <ac:chgData name="Fabrice Zore" userId="c13754f9768893d7" providerId="Windows Live" clId="Web-{B1D97AD1-E08C-12AE-5BE2-6FD9FC3143DB}" dt="2026-06-05T10:46:48.322" v="114"/>
          <ac:spMkLst>
            <pc:docMk/>
            <pc:sldMk cId="0" sldId="271"/>
            <ac:spMk id="145" creationId="{00000000-0000-0000-0000-000000000000}"/>
          </ac:spMkLst>
        </pc:spChg>
        <pc:spChg chg="mod">
          <ac:chgData name="Fabrice Zore" userId="c13754f9768893d7" providerId="Windows Live" clId="Web-{B1D97AD1-E08C-12AE-5BE2-6FD9FC3143DB}" dt="2026-06-05T10:46:48.322" v="115"/>
          <ac:spMkLst>
            <pc:docMk/>
            <pc:sldMk cId="0" sldId="271"/>
            <ac:spMk id="146" creationId="{00000000-0000-0000-0000-000000000000}"/>
          </ac:spMkLst>
        </pc:spChg>
        <pc:spChg chg="mod">
          <ac:chgData name="Fabrice Zore" userId="c13754f9768893d7" providerId="Windows Live" clId="Web-{B1D97AD1-E08C-12AE-5BE2-6FD9FC3143DB}" dt="2026-06-05T10:46:48.322" v="116"/>
          <ac:spMkLst>
            <pc:docMk/>
            <pc:sldMk cId="0" sldId="271"/>
            <ac:spMk id="147" creationId="{00000000-0000-0000-0000-000000000000}"/>
          </ac:spMkLst>
        </pc:spChg>
        <pc:spChg chg="mod">
          <ac:chgData name="Fabrice Zore" userId="c13754f9768893d7" providerId="Windows Live" clId="Web-{B1D97AD1-E08C-12AE-5BE2-6FD9FC3143DB}" dt="2026-06-05T10:46:48.322" v="117"/>
          <ac:spMkLst>
            <pc:docMk/>
            <pc:sldMk cId="0" sldId="271"/>
            <ac:spMk id="148" creationId="{00000000-0000-0000-0000-000000000000}"/>
          </ac:spMkLst>
        </pc:spChg>
        <pc:spChg chg="mod">
          <ac:chgData name="Fabrice Zore" userId="c13754f9768893d7" providerId="Windows Live" clId="Web-{B1D97AD1-E08C-12AE-5BE2-6FD9FC3143DB}" dt="2026-06-05T10:46:48.338" v="118"/>
          <ac:spMkLst>
            <pc:docMk/>
            <pc:sldMk cId="0" sldId="271"/>
            <ac:spMk id="149" creationId="{00000000-0000-0000-0000-000000000000}"/>
          </ac:spMkLst>
        </pc:spChg>
        <pc:spChg chg="mod">
          <ac:chgData name="Fabrice Zore" userId="c13754f9768893d7" providerId="Windows Live" clId="Web-{B1D97AD1-E08C-12AE-5BE2-6FD9FC3143DB}" dt="2026-06-05T10:46:48.338" v="119"/>
          <ac:spMkLst>
            <pc:docMk/>
            <pc:sldMk cId="0" sldId="271"/>
            <ac:spMk id="150" creationId="{00000000-0000-0000-0000-000000000000}"/>
          </ac:spMkLst>
        </pc:spChg>
        <pc:spChg chg="mod">
          <ac:chgData name="Fabrice Zore" userId="c13754f9768893d7" providerId="Windows Live" clId="Web-{B1D97AD1-E08C-12AE-5BE2-6FD9FC3143DB}" dt="2026-06-05T10:46:48.338" v="120"/>
          <ac:spMkLst>
            <pc:docMk/>
            <pc:sldMk cId="0" sldId="271"/>
            <ac:spMk id="151" creationId="{00000000-0000-0000-0000-000000000000}"/>
          </ac:spMkLst>
        </pc:spChg>
        <pc:spChg chg="mod">
          <ac:chgData name="Fabrice Zore" userId="c13754f9768893d7" providerId="Windows Live" clId="Web-{B1D97AD1-E08C-12AE-5BE2-6FD9FC3143DB}" dt="2026-06-05T10:46:48.338" v="121"/>
          <ac:spMkLst>
            <pc:docMk/>
            <pc:sldMk cId="0" sldId="271"/>
            <ac:spMk id="152" creationId="{00000000-0000-0000-0000-000000000000}"/>
          </ac:spMkLst>
        </pc:spChg>
        <pc:spChg chg="mod">
          <ac:chgData name="Fabrice Zore" userId="c13754f9768893d7" providerId="Windows Live" clId="Web-{B1D97AD1-E08C-12AE-5BE2-6FD9FC3143DB}" dt="2026-06-05T10:46:48.338" v="122"/>
          <ac:spMkLst>
            <pc:docMk/>
            <pc:sldMk cId="0" sldId="271"/>
            <ac:spMk id="153" creationId="{00000000-0000-0000-0000-000000000000}"/>
          </ac:spMkLst>
        </pc:spChg>
        <pc:spChg chg="mod">
          <ac:chgData name="Fabrice Zore" userId="c13754f9768893d7" providerId="Windows Live" clId="Web-{B1D97AD1-E08C-12AE-5BE2-6FD9FC3143DB}" dt="2026-06-05T10:46:48.338" v="123"/>
          <ac:spMkLst>
            <pc:docMk/>
            <pc:sldMk cId="0" sldId="271"/>
            <ac:spMk id="154" creationId="{00000000-0000-0000-0000-000000000000}"/>
          </ac:spMkLst>
        </pc:spChg>
        <pc:spChg chg="mod">
          <ac:chgData name="Fabrice Zore" userId="c13754f9768893d7" providerId="Windows Live" clId="Web-{B1D97AD1-E08C-12AE-5BE2-6FD9FC3143DB}" dt="2026-06-05T10:46:48.338" v="124"/>
          <ac:spMkLst>
            <pc:docMk/>
            <pc:sldMk cId="0" sldId="271"/>
            <ac:spMk id="155" creationId="{00000000-0000-0000-0000-000000000000}"/>
          </ac:spMkLst>
        </pc:spChg>
        <pc:spChg chg="mod">
          <ac:chgData name="Fabrice Zore" userId="c13754f9768893d7" providerId="Windows Live" clId="Web-{B1D97AD1-E08C-12AE-5BE2-6FD9FC3143DB}" dt="2026-06-05T10:46:48.338" v="125"/>
          <ac:spMkLst>
            <pc:docMk/>
            <pc:sldMk cId="0" sldId="271"/>
            <ac:spMk id="156" creationId="{00000000-0000-0000-0000-000000000000}"/>
          </ac:spMkLst>
        </pc:spChg>
        <pc:spChg chg="mod">
          <ac:chgData name="Fabrice Zore" userId="c13754f9768893d7" providerId="Windows Live" clId="Web-{B1D97AD1-E08C-12AE-5BE2-6FD9FC3143DB}" dt="2026-06-05T10:46:48.338" v="126"/>
          <ac:spMkLst>
            <pc:docMk/>
            <pc:sldMk cId="0" sldId="271"/>
            <ac:spMk id="157" creationId="{00000000-0000-0000-0000-000000000000}"/>
          </ac:spMkLst>
        </pc:spChg>
        <pc:spChg chg="mod">
          <ac:chgData name="Fabrice Zore" userId="c13754f9768893d7" providerId="Windows Live" clId="Web-{B1D97AD1-E08C-12AE-5BE2-6FD9FC3143DB}" dt="2026-06-05T10:46:48.338" v="127"/>
          <ac:spMkLst>
            <pc:docMk/>
            <pc:sldMk cId="0" sldId="271"/>
            <ac:spMk id="158" creationId="{00000000-0000-0000-0000-000000000000}"/>
          </ac:spMkLst>
        </pc:spChg>
        <pc:spChg chg="mod">
          <ac:chgData name="Fabrice Zore" userId="c13754f9768893d7" providerId="Windows Live" clId="Web-{B1D97AD1-E08C-12AE-5BE2-6FD9FC3143DB}" dt="2026-06-05T10:46:48.338" v="128"/>
          <ac:spMkLst>
            <pc:docMk/>
            <pc:sldMk cId="0" sldId="271"/>
            <ac:spMk id="159" creationId="{00000000-0000-0000-0000-000000000000}"/>
          </ac:spMkLst>
        </pc:spChg>
        <pc:spChg chg="mod">
          <ac:chgData name="Fabrice Zore" userId="c13754f9768893d7" providerId="Windows Live" clId="Web-{B1D97AD1-E08C-12AE-5BE2-6FD9FC3143DB}" dt="2026-06-05T10:46:48.338" v="129"/>
          <ac:spMkLst>
            <pc:docMk/>
            <pc:sldMk cId="0" sldId="271"/>
            <ac:spMk id="160" creationId="{00000000-0000-0000-0000-000000000000}"/>
          </ac:spMkLst>
        </pc:spChg>
        <pc:spChg chg="mod">
          <ac:chgData name="Fabrice Zore" userId="c13754f9768893d7" providerId="Windows Live" clId="Web-{B1D97AD1-E08C-12AE-5BE2-6FD9FC3143DB}" dt="2026-06-05T10:46:48.338" v="130"/>
          <ac:spMkLst>
            <pc:docMk/>
            <pc:sldMk cId="0" sldId="271"/>
            <ac:spMk id="161" creationId="{00000000-0000-0000-0000-000000000000}"/>
          </ac:spMkLst>
        </pc:spChg>
        <pc:spChg chg="mod">
          <ac:chgData name="Fabrice Zore" userId="c13754f9768893d7" providerId="Windows Live" clId="Web-{B1D97AD1-E08C-12AE-5BE2-6FD9FC3143DB}" dt="2026-06-05T10:46:48.338" v="131"/>
          <ac:spMkLst>
            <pc:docMk/>
            <pc:sldMk cId="0" sldId="271"/>
            <ac:spMk id="162" creationId="{00000000-0000-0000-0000-000000000000}"/>
          </ac:spMkLst>
        </pc:spChg>
        <pc:spChg chg="mod">
          <ac:chgData name="Fabrice Zore" userId="c13754f9768893d7" providerId="Windows Live" clId="Web-{B1D97AD1-E08C-12AE-5BE2-6FD9FC3143DB}" dt="2026-06-05T10:46:48.338" v="132"/>
          <ac:spMkLst>
            <pc:docMk/>
            <pc:sldMk cId="0" sldId="271"/>
            <ac:spMk id="163" creationId="{00000000-0000-0000-0000-000000000000}"/>
          </ac:spMkLst>
        </pc:spChg>
        <pc:spChg chg="mod">
          <ac:chgData name="Fabrice Zore" userId="c13754f9768893d7" providerId="Windows Live" clId="Web-{B1D97AD1-E08C-12AE-5BE2-6FD9FC3143DB}" dt="2026-06-05T10:46:48.338" v="133"/>
          <ac:spMkLst>
            <pc:docMk/>
            <pc:sldMk cId="0" sldId="271"/>
            <ac:spMk id="164" creationId="{00000000-0000-0000-0000-000000000000}"/>
          </ac:spMkLst>
        </pc:spChg>
        <pc:spChg chg="mod">
          <ac:chgData name="Fabrice Zore" userId="c13754f9768893d7" providerId="Windows Live" clId="Web-{B1D97AD1-E08C-12AE-5BE2-6FD9FC3143DB}" dt="2026-06-05T10:46:48.338" v="134"/>
          <ac:spMkLst>
            <pc:docMk/>
            <pc:sldMk cId="0" sldId="271"/>
            <ac:spMk id="165" creationId="{00000000-0000-0000-0000-000000000000}"/>
          </ac:spMkLst>
        </pc:spChg>
        <pc:spChg chg="mod">
          <ac:chgData name="Fabrice Zore" userId="c13754f9768893d7" providerId="Windows Live" clId="Web-{B1D97AD1-E08C-12AE-5BE2-6FD9FC3143DB}" dt="2026-06-05T10:46:48.338" v="135"/>
          <ac:spMkLst>
            <pc:docMk/>
            <pc:sldMk cId="0" sldId="271"/>
            <ac:spMk id="166" creationId="{00000000-0000-0000-0000-000000000000}"/>
          </ac:spMkLst>
        </pc:spChg>
        <pc:spChg chg="mod">
          <ac:chgData name="Fabrice Zore" userId="c13754f9768893d7" providerId="Windows Live" clId="Web-{B1D97AD1-E08C-12AE-5BE2-6FD9FC3143DB}" dt="2026-06-05T10:46:48.338" v="136"/>
          <ac:spMkLst>
            <pc:docMk/>
            <pc:sldMk cId="0" sldId="271"/>
            <ac:spMk id="167" creationId="{00000000-0000-0000-0000-000000000000}"/>
          </ac:spMkLst>
        </pc:spChg>
        <pc:spChg chg="mod">
          <ac:chgData name="Fabrice Zore" userId="c13754f9768893d7" providerId="Windows Live" clId="Web-{B1D97AD1-E08C-12AE-5BE2-6FD9FC3143DB}" dt="2026-06-05T10:46:48.354" v="137"/>
          <ac:spMkLst>
            <pc:docMk/>
            <pc:sldMk cId="0" sldId="271"/>
            <ac:spMk id="168" creationId="{00000000-0000-0000-0000-000000000000}"/>
          </ac:spMkLst>
        </pc:spChg>
        <pc:spChg chg="mod">
          <ac:chgData name="Fabrice Zore" userId="c13754f9768893d7" providerId="Windows Live" clId="Web-{B1D97AD1-E08C-12AE-5BE2-6FD9FC3143DB}" dt="2026-06-05T10:46:48.682" v="138"/>
          <ac:spMkLst>
            <pc:docMk/>
            <pc:sldMk cId="0" sldId="271"/>
            <ac:spMk id="169" creationId="{00000000-0000-0000-0000-000000000000}"/>
          </ac:spMkLst>
        </pc:spChg>
      </pc:sldChg>
      <pc:sldChg chg="modSp">
        <pc:chgData name="Fabrice Zore" userId="c13754f9768893d7" providerId="Windows Live" clId="Web-{B1D97AD1-E08C-12AE-5BE2-6FD9FC3143DB}" dt="2026-06-05T10:47:10.058" v="163"/>
        <pc:sldMkLst>
          <pc:docMk/>
          <pc:sldMk cId="0" sldId="272"/>
        </pc:sldMkLst>
        <pc:spChg chg="mod">
          <ac:chgData name="Fabrice Zore" userId="c13754f9768893d7" providerId="Windows Live" clId="Web-{B1D97AD1-E08C-12AE-5BE2-6FD9FC3143DB}" dt="2026-06-05T10:47:09.683" v="139"/>
          <ac:spMkLst>
            <pc:docMk/>
            <pc:sldMk cId="0" sldId="272"/>
            <ac:spMk id="174" creationId="{00000000-0000-0000-0000-000000000000}"/>
          </ac:spMkLst>
        </pc:spChg>
        <pc:spChg chg="mod">
          <ac:chgData name="Fabrice Zore" userId="c13754f9768893d7" providerId="Windows Live" clId="Web-{B1D97AD1-E08C-12AE-5BE2-6FD9FC3143DB}" dt="2026-06-05T10:47:09.683" v="140"/>
          <ac:spMkLst>
            <pc:docMk/>
            <pc:sldMk cId="0" sldId="272"/>
            <ac:spMk id="175" creationId="{00000000-0000-0000-0000-000000000000}"/>
          </ac:spMkLst>
        </pc:spChg>
        <pc:spChg chg="mod">
          <ac:chgData name="Fabrice Zore" userId="c13754f9768893d7" providerId="Windows Live" clId="Web-{B1D97AD1-E08C-12AE-5BE2-6FD9FC3143DB}" dt="2026-06-05T10:47:09.683" v="141"/>
          <ac:spMkLst>
            <pc:docMk/>
            <pc:sldMk cId="0" sldId="272"/>
            <ac:spMk id="176" creationId="{00000000-0000-0000-0000-000000000000}"/>
          </ac:spMkLst>
        </pc:spChg>
        <pc:spChg chg="mod">
          <ac:chgData name="Fabrice Zore" userId="c13754f9768893d7" providerId="Windows Live" clId="Web-{B1D97AD1-E08C-12AE-5BE2-6FD9FC3143DB}" dt="2026-06-05T10:47:09.683" v="142"/>
          <ac:spMkLst>
            <pc:docMk/>
            <pc:sldMk cId="0" sldId="272"/>
            <ac:spMk id="177" creationId="{00000000-0000-0000-0000-000000000000}"/>
          </ac:spMkLst>
        </pc:spChg>
        <pc:spChg chg="mod">
          <ac:chgData name="Fabrice Zore" userId="c13754f9768893d7" providerId="Windows Live" clId="Web-{B1D97AD1-E08C-12AE-5BE2-6FD9FC3143DB}" dt="2026-06-05T10:47:09.683" v="143"/>
          <ac:spMkLst>
            <pc:docMk/>
            <pc:sldMk cId="0" sldId="272"/>
            <ac:spMk id="178" creationId="{00000000-0000-0000-0000-000000000000}"/>
          </ac:spMkLst>
        </pc:spChg>
        <pc:spChg chg="mod">
          <ac:chgData name="Fabrice Zore" userId="c13754f9768893d7" providerId="Windows Live" clId="Web-{B1D97AD1-E08C-12AE-5BE2-6FD9FC3143DB}" dt="2026-06-05T10:47:09.683" v="144"/>
          <ac:spMkLst>
            <pc:docMk/>
            <pc:sldMk cId="0" sldId="272"/>
            <ac:spMk id="179" creationId="{00000000-0000-0000-0000-000000000000}"/>
          </ac:spMkLst>
        </pc:spChg>
        <pc:spChg chg="mod">
          <ac:chgData name="Fabrice Zore" userId="c13754f9768893d7" providerId="Windows Live" clId="Web-{B1D97AD1-E08C-12AE-5BE2-6FD9FC3143DB}" dt="2026-06-05T10:47:09.683" v="145"/>
          <ac:spMkLst>
            <pc:docMk/>
            <pc:sldMk cId="0" sldId="272"/>
            <ac:spMk id="180" creationId="{00000000-0000-0000-0000-000000000000}"/>
          </ac:spMkLst>
        </pc:spChg>
        <pc:spChg chg="mod">
          <ac:chgData name="Fabrice Zore" userId="c13754f9768893d7" providerId="Windows Live" clId="Web-{B1D97AD1-E08C-12AE-5BE2-6FD9FC3143DB}" dt="2026-06-05T10:47:09.683" v="146"/>
          <ac:spMkLst>
            <pc:docMk/>
            <pc:sldMk cId="0" sldId="272"/>
            <ac:spMk id="181" creationId="{00000000-0000-0000-0000-000000000000}"/>
          </ac:spMkLst>
        </pc:spChg>
        <pc:spChg chg="mod">
          <ac:chgData name="Fabrice Zore" userId="c13754f9768893d7" providerId="Windows Live" clId="Web-{B1D97AD1-E08C-12AE-5BE2-6FD9FC3143DB}" dt="2026-06-05T10:47:09.683" v="147"/>
          <ac:spMkLst>
            <pc:docMk/>
            <pc:sldMk cId="0" sldId="272"/>
            <ac:spMk id="182" creationId="{00000000-0000-0000-0000-000000000000}"/>
          </ac:spMkLst>
        </pc:spChg>
        <pc:spChg chg="mod">
          <ac:chgData name="Fabrice Zore" userId="c13754f9768893d7" providerId="Windows Live" clId="Web-{B1D97AD1-E08C-12AE-5BE2-6FD9FC3143DB}" dt="2026-06-05T10:47:09.683" v="148"/>
          <ac:spMkLst>
            <pc:docMk/>
            <pc:sldMk cId="0" sldId="272"/>
            <ac:spMk id="183" creationId="{00000000-0000-0000-0000-000000000000}"/>
          </ac:spMkLst>
        </pc:spChg>
        <pc:spChg chg="mod">
          <ac:chgData name="Fabrice Zore" userId="c13754f9768893d7" providerId="Windows Live" clId="Web-{B1D97AD1-E08C-12AE-5BE2-6FD9FC3143DB}" dt="2026-06-05T10:47:09.683" v="149"/>
          <ac:spMkLst>
            <pc:docMk/>
            <pc:sldMk cId="0" sldId="272"/>
            <ac:spMk id="184" creationId="{00000000-0000-0000-0000-000000000000}"/>
          </ac:spMkLst>
        </pc:spChg>
        <pc:spChg chg="mod">
          <ac:chgData name="Fabrice Zore" userId="c13754f9768893d7" providerId="Windows Live" clId="Web-{B1D97AD1-E08C-12AE-5BE2-6FD9FC3143DB}" dt="2026-06-05T10:47:09.683" v="150"/>
          <ac:spMkLst>
            <pc:docMk/>
            <pc:sldMk cId="0" sldId="272"/>
            <ac:spMk id="185" creationId="{00000000-0000-0000-0000-000000000000}"/>
          </ac:spMkLst>
        </pc:spChg>
        <pc:spChg chg="mod">
          <ac:chgData name="Fabrice Zore" userId="c13754f9768893d7" providerId="Windows Live" clId="Web-{B1D97AD1-E08C-12AE-5BE2-6FD9FC3143DB}" dt="2026-06-05T10:47:09.683" v="151"/>
          <ac:spMkLst>
            <pc:docMk/>
            <pc:sldMk cId="0" sldId="272"/>
            <ac:spMk id="186" creationId="{00000000-0000-0000-0000-000000000000}"/>
          </ac:spMkLst>
        </pc:spChg>
        <pc:spChg chg="mod">
          <ac:chgData name="Fabrice Zore" userId="c13754f9768893d7" providerId="Windows Live" clId="Web-{B1D97AD1-E08C-12AE-5BE2-6FD9FC3143DB}" dt="2026-06-05T10:47:09.683" v="152"/>
          <ac:spMkLst>
            <pc:docMk/>
            <pc:sldMk cId="0" sldId="272"/>
            <ac:spMk id="187" creationId="{00000000-0000-0000-0000-000000000000}"/>
          </ac:spMkLst>
        </pc:spChg>
        <pc:spChg chg="mod">
          <ac:chgData name="Fabrice Zore" userId="c13754f9768893d7" providerId="Windows Live" clId="Web-{B1D97AD1-E08C-12AE-5BE2-6FD9FC3143DB}" dt="2026-06-05T10:47:09.683" v="153"/>
          <ac:spMkLst>
            <pc:docMk/>
            <pc:sldMk cId="0" sldId="272"/>
            <ac:spMk id="188" creationId="{00000000-0000-0000-0000-000000000000}"/>
          </ac:spMkLst>
        </pc:spChg>
        <pc:spChg chg="mod">
          <ac:chgData name="Fabrice Zore" userId="c13754f9768893d7" providerId="Windows Live" clId="Web-{B1D97AD1-E08C-12AE-5BE2-6FD9FC3143DB}" dt="2026-06-05T10:47:09.683" v="154"/>
          <ac:spMkLst>
            <pc:docMk/>
            <pc:sldMk cId="0" sldId="272"/>
            <ac:spMk id="189" creationId="{00000000-0000-0000-0000-000000000000}"/>
          </ac:spMkLst>
        </pc:spChg>
        <pc:spChg chg="mod">
          <ac:chgData name="Fabrice Zore" userId="c13754f9768893d7" providerId="Windows Live" clId="Web-{B1D97AD1-E08C-12AE-5BE2-6FD9FC3143DB}" dt="2026-06-05T10:47:09.683" v="155"/>
          <ac:spMkLst>
            <pc:docMk/>
            <pc:sldMk cId="0" sldId="272"/>
            <ac:spMk id="190" creationId="{00000000-0000-0000-0000-000000000000}"/>
          </ac:spMkLst>
        </pc:spChg>
        <pc:spChg chg="mod">
          <ac:chgData name="Fabrice Zore" userId="c13754f9768893d7" providerId="Windows Live" clId="Web-{B1D97AD1-E08C-12AE-5BE2-6FD9FC3143DB}" dt="2026-06-05T10:47:09.683" v="156"/>
          <ac:spMkLst>
            <pc:docMk/>
            <pc:sldMk cId="0" sldId="272"/>
            <ac:spMk id="191" creationId="{00000000-0000-0000-0000-000000000000}"/>
          </ac:spMkLst>
        </pc:spChg>
        <pc:spChg chg="mod">
          <ac:chgData name="Fabrice Zore" userId="c13754f9768893d7" providerId="Windows Live" clId="Web-{B1D97AD1-E08C-12AE-5BE2-6FD9FC3143DB}" dt="2026-06-05T10:47:09.683" v="157"/>
          <ac:spMkLst>
            <pc:docMk/>
            <pc:sldMk cId="0" sldId="272"/>
            <ac:spMk id="192" creationId="{00000000-0000-0000-0000-000000000000}"/>
          </ac:spMkLst>
        </pc:spChg>
        <pc:spChg chg="mod">
          <ac:chgData name="Fabrice Zore" userId="c13754f9768893d7" providerId="Windows Live" clId="Web-{B1D97AD1-E08C-12AE-5BE2-6FD9FC3143DB}" dt="2026-06-05T10:47:09.683" v="158"/>
          <ac:spMkLst>
            <pc:docMk/>
            <pc:sldMk cId="0" sldId="272"/>
            <ac:spMk id="193" creationId="{00000000-0000-0000-0000-000000000000}"/>
          </ac:spMkLst>
        </pc:spChg>
        <pc:spChg chg="mod">
          <ac:chgData name="Fabrice Zore" userId="c13754f9768893d7" providerId="Windows Live" clId="Web-{B1D97AD1-E08C-12AE-5BE2-6FD9FC3143DB}" dt="2026-06-05T10:47:09.683" v="159"/>
          <ac:spMkLst>
            <pc:docMk/>
            <pc:sldMk cId="0" sldId="272"/>
            <ac:spMk id="194" creationId="{00000000-0000-0000-0000-000000000000}"/>
          </ac:spMkLst>
        </pc:spChg>
        <pc:spChg chg="mod">
          <ac:chgData name="Fabrice Zore" userId="c13754f9768893d7" providerId="Windows Live" clId="Web-{B1D97AD1-E08C-12AE-5BE2-6FD9FC3143DB}" dt="2026-06-05T10:47:09.683" v="160"/>
          <ac:spMkLst>
            <pc:docMk/>
            <pc:sldMk cId="0" sldId="272"/>
            <ac:spMk id="195" creationId="{00000000-0000-0000-0000-000000000000}"/>
          </ac:spMkLst>
        </pc:spChg>
        <pc:spChg chg="mod">
          <ac:chgData name="Fabrice Zore" userId="c13754f9768893d7" providerId="Windows Live" clId="Web-{B1D97AD1-E08C-12AE-5BE2-6FD9FC3143DB}" dt="2026-06-05T10:47:09.698" v="161"/>
          <ac:spMkLst>
            <pc:docMk/>
            <pc:sldMk cId="0" sldId="272"/>
            <ac:spMk id="196" creationId="{00000000-0000-0000-0000-000000000000}"/>
          </ac:spMkLst>
        </pc:spChg>
        <pc:spChg chg="mod">
          <ac:chgData name="Fabrice Zore" userId="c13754f9768893d7" providerId="Windows Live" clId="Web-{B1D97AD1-E08C-12AE-5BE2-6FD9FC3143DB}" dt="2026-06-05T10:47:09.698" v="162"/>
          <ac:spMkLst>
            <pc:docMk/>
            <pc:sldMk cId="0" sldId="272"/>
            <ac:spMk id="197" creationId="{00000000-0000-0000-0000-000000000000}"/>
          </ac:spMkLst>
        </pc:spChg>
        <pc:spChg chg="mod">
          <ac:chgData name="Fabrice Zore" userId="c13754f9768893d7" providerId="Windows Live" clId="Web-{B1D97AD1-E08C-12AE-5BE2-6FD9FC3143DB}" dt="2026-06-05T10:47:10.058" v="163"/>
          <ac:spMkLst>
            <pc:docMk/>
            <pc:sldMk cId="0" sldId="272"/>
            <ac:spMk id="198" creationId="{00000000-0000-0000-0000-000000000000}"/>
          </ac:spMkLst>
        </pc:spChg>
      </pc:sldChg>
      <pc:sldChg chg="addSp delSp modSp">
        <pc:chgData name="Fabrice Zore" userId="c13754f9768893d7" providerId="Windows Live" clId="Web-{B1D97AD1-E08C-12AE-5BE2-6FD9FC3143DB}" dt="2026-06-05T10:46:32.447" v="113" actId="1076"/>
        <pc:sldMkLst>
          <pc:docMk/>
          <pc:sldMk cId="0" sldId="273"/>
        </pc:sldMkLst>
        <pc:picChg chg="add del mod">
          <ac:chgData name="Fabrice Zore" userId="c13754f9768893d7" providerId="Windows Live" clId="Web-{B1D97AD1-E08C-12AE-5BE2-6FD9FC3143DB}" dt="2026-06-05T10:46:32.447" v="113" actId="1076"/>
          <ac:picMkLst>
            <pc:docMk/>
            <pc:sldMk cId="0" sldId="273"/>
            <ac:picMk id="205" creationId="{00000000-0000-0000-0000-000000000000}"/>
          </ac:picMkLst>
        </pc:picChg>
      </pc:sldChg>
    </pc:docChg>
  </pc:docChgLst>
  <pc:docChgLst>
    <pc:chgData name="Fabrice Zore" userId="c13754f9768893d7" providerId="Windows Live" clId="Web-{FC0E264A-E514-A4CD-25A0-D8FC04849CA8}"/>
    <pc:docChg chg="modSld">
      <pc:chgData name="Fabrice Zore" userId="c13754f9768893d7" providerId="Windows Live" clId="Web-{FC0E264A-E514-A4CD-25A0-D8FC04849CA8}" dt="2026-06-09T08:46:14.824" v="9" actId="20577"/>
      <pc:docMkLst>
        <pc:docMk/>
      </pc:docMkLst>
      <pc:sldChg chg="modSp">
        <pc:chgData name="Fabrice Zore" userId="c13754f9768893d7" providerId="Windows Live" clId="Web-{FC0E264A-E514-A4CD-25A0-D8FC04849CA8}" dt="2026-06-09T08:46:14.824" v="9" actId="20577"/>
        <pc:sldMkLst>
          <pc:docMk/>
          <pc:sldMk cId="0" sldId="259"/>
        </pc:sldMkLst>
        <pc:spChg chg="mod">
          <ac:chgData name="Fabrice Zore" userId="c13754f9768893d7" providerId="Windows Live" clId="Web-{FC0E264A-E514-A4CD-25A0-D8FC04849CA8}" dt="2026-06-09T08:46:14.824" v="9" actId="20577"/>
          <ac:spMkLst>
            <pc:docMk/>
            <pc:sldMk cId="0" sldId="259"/>
            <ac:spMk id="7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d64fa98cb0_0_2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d64fa98cb0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d64fa98cb0_0_2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d64fa98cb0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d64fa98cb0_6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d64fa98cb0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d64fa98cb0_5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d64fa98cb0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d91e8cf18f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91e8cf18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d91e8cf18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d91e8cf18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d91e8cf18f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d91e8cf18f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d91e8cf18f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d91e8cf18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9a452122b5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9a452122b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daa3126a5d_2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daa3126a5d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d9249350c4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d9249350c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d9249350c4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d9249350c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d9249350c4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d9249350c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d9249350c4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d9249350c4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da7b99bbf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3da7b99bbfc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da7b99bbfc_0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3da7b99bbfc_0_2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daa73ed17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daa73ed17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ddab9e09e7_6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ddab9e09e7_6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de"/>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de" sz="4800"/>
              <a:t>SE-2 Projekt Team Vorstellung</a:t>
            </a:r>
            <a:endParaRPr sz="4800"/>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 sz="2400"/>
              <a:t>Team: AhSoGehts™  \ ಠ╭╮ಠ / </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729450" y="6401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de" sz="2740"/>
              <a:t>Mitglieder</a:t>
            </a:r>
            <a:endParaRPr sz="2740"/>
          </a:p>
        </p:txBody>
      </p:sp>
      <p:sp>
        <p:nvSpPr>
          <p:cNvPr id="61" name="Google Shape;61;p14"/>
          <p:cNvSpPr txBox="1">
            <a:spLocks noGrp="1"/>
          </p:cNvSpPr>
          <p:nvPr>
            <p:ph type="body" idx="1"/>
          </p:nvPr>
        </p:nvSpPr>
        <p:spPr>
          <a:xfrm>
            <a:off x="729450" y="1441200"/>
            <a:ext cx="7688700" cy="37023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de" sz="1600"/>
              <a:t>Marius Merget</a:t>
            </a:r>
            <a:br>
              <a:rPr lang="de" sz="1600"/>
            </a:br>
            <a:r>
              <a:rPr lang="de" sz="1600"/>
              <a:t>Mike Kierdorf</a:t>
            </a:r>
            <a:br>
              <a:rPr lang="de" sz="1600"/>
            </a:br>
            <a:r>
              <a:rPr lang="de" sz="1600"/>
              <a:t>Fabrice Zore</a:t>
            </a:r>
            <a:br>
              <a:rPr lang="de" sz="1600"/>
            </a:br>
            <a:r>
              <a:rPr lang="de" sz="1600"/>
              <a:t>Zhi-Ling Chen</a:t>
            </a:r>
            <a:br>
              <a:rPr lang="de" sz="1600"/>
            </a:br>
            <a:r>
              <a:rPr lang="de" sz="1600"/>
              <a:t>Ismail Louridi</a:t>
            </a:r>
            <a:br>
              <a:rPr lang="de" sz="1600"/>
            </a:br>
            <a:r>
              <a:rPr lang="de" sz="1600"/>
              <a:t>Marlon Rohde</a:t>
            </a:r>
            <a:br>
              <a:rPr lang="de" sz="1600"/>
            </a:br>
            <a:r>
              <a:rPr lang="de" sz="1600"/>
              <a:t>Arda Kevin Demirel</a:t>
            </a:r>
            <a:br>
              <a:rPr lang="de" sz="1600"/>
            </a:br>
            <a:r>
              <a:rPr lang="de" sz="1600"/>
              <a:t>Annemarie Jänecke</a:t>
            </a:r>
            <a:br>
              <a:rPr lang="de" sz="1600"/>
            </a:br>
            <a:r>
              <a:rPr lang="de" sz="1600"/>
              <a:t>Malte Koch</a:t>
            </a:r>
            <a:br>
              <a:rPr lang="de" sz="1600"/>
            </a:br>
            <a:r>
              <a:rPr lang="de" sz="1600"/>
              <a:t>Bahadir Hacisalihoglu</a:t>
            </a:r>
            <a:br>
              <a:rPr lang="de" sz="1600"/>
            </a:br>
            <a:r>
              <a:rPr lang="de" sz="1600"/>
              <a:t>Aylin Öztürk</a:t>
            </a:r>
            <a:br>
              <a:rPr lang="de" sz="1600"/>
            </a:br>
            <a:r>
              <a:rPr lang="de" sz="1600"/>
              <a:t>Rim Amsaoui</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729450" y="6401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de" sz="2740"/>
              <a:t>Rollenverteilung</a:t>
            </a:r>
            <a:endParaRPr sz="2740"/>
          </a:p>
        </p:txBody>
      </p:sp>
      <p:sp>
        <p:nvSpPr>
          <p:cNvPr id="67" name="Google Shape;67;p15"/>
          <p:cNvSpPr txBox="1"/>
          <p:nvPr/>
        </p:nvSpPr>
        <p:spPr>
          <a:xfrm>
            <a:off x="729450" y="1616500"/>
            <a:ext cx="7688700" cy="3370123"/>
          </a:xfrm>
          <a:prstGeom prst="rect">
            <a:avLst/>
          </a:prstGeom>
          <a:noFill/>
          <a:ln>
            <a:noFill/>
          </a:ln>
        </p:spPr>
        <p:txBody>
          <a:bodyPr spcFirstLastPara="1" wrap="square" lIns="91425" tIns="91425" rIns="91425" bIns="91425" anchor="t" anchorCtr="0">
            <a:spAutoFit/>
          </a:bodyPr>
          <a:lstStyle/>
          <a:p>
            <a:pPr marL="457200" indent="-342900">
              <a:lnSpc>
                <a:spcPct val="115000"/>
              </a:lnSpc>
              <a:buClr>
                <a:schemeClr val="accent1"/>
              </a:buClr>
              <a:buSzPts val="1800"/>
              <a:buFont typeface="Lato"/>
              <a:buChar char="-"/>
            </a:pPr>
            <a:r>
              <a:rPr lang="de" sz="1800" dirty="0" err="1">
                <a:solidFill>
                  <a:schemeClr val="accent1"/>
                </a:solidFill>
                <a:ea typeface="Lato"/>
                <a:sym typeface="Lato"/>
              </a:rPr>
              <a:t>Product</a:t>
            </a:r>
            <a:r>
              <a:rPr lang="de" sz="1800" dirty="0">
                <a:solidFill>
                  <a:schemeClr val="accent1"/>
                </a:solidFill>
                <a:ea typeface="Lato"/>
                <a:sym typeface="Lato"/>
              </a:rPr>
              <a:t> Owner Proxy:		Marius (Ersatz: Mike)</a:t>
            </a:r>
            <a:endParaRPr lang="de-DE" sz="1800">
              <a:solidFill>
                <a:schemeClr val="accent1"/>
              </a:solidFill>
              <a:ea typeface="Lato"/>
            </a:endParaRPr>
          </a:p>
          <a:p>
            <a:pPr marL="457200" indent="-342900">
              <a:lnSpc>
                <a:spcPct val="114999"/>
              </a:lnSpc>
              <a:buClr>
                <a:schemeClr val="accent1"/>
              </a:buClr>
              <a:buSzPts val="1800"/>
              <a:buFont typeface="Lato"/>
              <a:buChar char="-"/>
            </a:pPr>
            <a:r>
              <a:rPr lang="de" sz="1800" dirty="0" err="1">
                <a:solidFill>
                  <a:schemeClr val="accent1"/>
                </a:solidFill>
                <a:ea typeface="Lato"/>
                <a:sym typeface="Lato"/>
              </a:rPr>
              <a:t>Scrum</a:t>
            </a:r>
            <a:r>
              <a:rPr lang="de" sz="1800" dirty="0">
                <a:solidFill>
                  <a:schemeClr val="accent1"/>
                </a:solidFill>
                <a:ea typeface="Lato"/>
                <a:sym typeface="Lato"/>
              </a:rPr>
              <a:t> Master:			Fabrice (Ersatz: Arda)</a:t>
            </a:r>
            <a:endParaRPr lang="de" sz="1800">
              <a:solidFill>
                <a:schemeClr val="accent1"/>
              </a:solidFill>
              <a:ea typeface="Lato"/>
            </a:endParaRPr>
          </a:p>
          <a:p>
            <a:pPr marL="457200" indent="-342900">
              <a:lnSpc>
                <a:spcPct val="114999"/>
              </a:lnSpc>
              <a:buClr>
                <a:schemeClr val="accent1"/>
              </a:buClr>
              <a:buSzPts val="1800"/>
              <a:buFont typeface="Lato"/>
              <a:buChar char="-"/>
            </a:pPr>
            <a:r>
              <a:rPr lang="de" sz="1800">
                <a:solidFill>
                  <a:schemeClr val="accent1"/>
                </a:solidFill>
                <a:ea typeface="Lato"/>
                <a:sym typeface="Lato"/>
              </a:rPr>
              <a:t>Datenbank:				Marlon, Annemarie, Marius</a:t>
            </a:r>
            <a:endParaRPr lang="de" sz="1800">
              <a:solidFill>
                <a:schemeClr val="accent1"/>
              </a:solidFill>
              <a:ea typeface="Lato"/>
            </a:endParaRPr>
          </a:p>
          <a:p>
            <a:pPr marL="457200" indent="-342900">
              <a:lnSpc>
                <a:spcPct val="114999"/>
              </a:lnSpc>
              <a:buClr>
                <a:schemeClr val="accent1"/>
              </a:buClr>
              <a:buSzPts val="1800"/>
              <a:buFont typeface="Lato"/>
              <a:buChar char="-"/>
            </a:pPr>
            <a:r>
              <a:rPr lang="de" sz="1800">
                <a:solidFill>
                  <a:schemeClr val="accent1"/>
                </a:solidFill>
                <a:ea typeface="Lato"/>
                <a:sym typeface="Lato"/>
              </a:rPr>
              <a:t>Software Architekt:		Arda, Malte</a:t>
            </a:r>
            <a:endParaRPr lang="de" sz="1800">
              <a:solidFill>
                <a:schemeClr val="accent1"/>
              </a:solidFill>
              <a:ea typeface="Lato"/>
            </a:endParaRPr>
          </a:p>
          <a:p>
            <a:pPr marL="457200" indent="-342900">
              <a:lnSpc>
                <a:spcPct val="114999"/>
              </a:lnSpc>
              <a:buClr>
                <a:schemeClr val="accent1"/>
              </a:buClr>
              <a:buSzPts val="1800"/>
              <a:buFont typeface="Lato"/>
              <a:buChar char="-"/>
            </a:pPr>
            <a:r>
              <a:rPr lang="de" sz="1800">
                <a:solidFill>
                  <a:schemeClr val="accent1"/>
                </a:solidFill>
                <a:ea typeface="Lato"/>
                <a:sym typeface="Lato"/>
              </a:rPr>
              <a:t>Programmierer:			Arda, Marius, Bahadir, Malte, Aylin, Mike</a:t>
            </a:r>
            <a:endParaRPr lang="de" sz="1800">
              <a:solidFill>
                <a:schemeClr val="accent1"/>
              </a:solidFill>
              <a:ea typeface="Lato"/>
            </a:endParaRPr>
          </a:p>
          <a:p>
            <a:pPr marL="457200" indent="-342900">
              <a:lnSpc>
                <a:spcPct val="114999"/>
              </a:lnSpc>
              <a:buClr>
                <a:schemeClr val="accent1"/>
              </a:buClr>
              <a:buSzPts val="1800"/>
              <a:buFont typeface="Lato"/>
              <a:buChar char="-"/>
            </a:pPr>
            <a:r>
              <a:rPr lang="de" sz="1800">
                <a:solidFill>
                  <a:schemeClr val="accent1"/>
                </a:solidFill>
                <a:ea typeface="Lato"/>
                <a:sym typeface="Lato"/>
              </a:rPr>
              <a:t>Tester:					Ismail, Bahadir, Ling, Rim, Fabrice</a:t>
            </a:r>
            <a:endParaRPr lang="de" sz="1800">
              <a:solidFill>
                <a:schemeClr val="accent1"/>
              </a:solidFill>
              <a:ea typeface="Lato"/>
            </a:endParaRPr>
          </a:p>
          <a:p>
            <a:pPr marL="457200" indent="-342900">
              <a:lnSpc>
                <a:spcPct val="114999"/>
              </a:lnSpc>
              <a:buClr>
                <a:schemeClr val="accent1"/>
              </a:buClr>
              <a:buSzPts val="1800"/>
              <a:buFont typeface="Lato"/>
              <a:buChar char="-"/>
            </a:pPr>
            <a:r>
              <a:rPr lang="de" sz="1800">
                <a:solidFill>
                  <a:schemeClr val="accent1"/>
                </a:solidFill>
                <a:ea typeface="Lato"/>
                <a:sym typeface="Lato"/>
              </a:rPr>
              <a:t>Quality Management:		Marlon, Annemarie, Bahadir</a:t>
            </a:r>
            <a:endParaRPr lang="de" sz="1800">
              <a:solidFill>
                <a:schemeClr val="accent1"/>
              </a:solidFill>
              <a:ea typeface="Lato"/>
            </a:endParaRPr>
          </a:p>
          <a:p>
            <a:pPr marL="457200" indent="-342900">
              <a:lnSpc>
                <a:spcPct val="114999"/>
              </a:lnSpc>
              <a:buClr>
                <a:schemeClr val="accent1"/>
              </a:buClr>
              <a:buSzPts val="1800"/>
              <a:buFont typeface="Lato"/>
              <a:buChar char="-"/>
            </a:pPr>
            <a:r>
              <a:rPr lang="de" sz="1800">
                <a:solidFill>
                  <a:schemeClr val="accent1"/>
                </a:solidFill>
                <a:ea typeface="Lato"/>
                <a:sym typeface="Lato"/>
              </a:rPr>
              <a:t>Usability:				Ismail, Ling, Rim, Mike</a:t>
            </a:r>
            <a:endParaRPr lang="de-DE">
              <a:solidFill>
                <a:schemeClr val="accent1"/>
              </a:solidFill>
              <a:ea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729450" y="6401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de" sz="2740"/>
              <a:t>Tools</a:t>
            </a:r>
            <a:endParaRPr sz="2740"/>
          </a:p>
        </p:txBody>
      </p:sp>
      <p:sp>
        <p:nvSpPr>
          <p:cNvPr id="73" name="Google Shape;73;p16"/>
          <p:cNvSpPr txBox="1">
            <a:spLocks noGrp="1"/>
          </p:cNvSpPr>
          <p:nvPr>
            <p:ph type="body" idx="1"/>
          </p:nvPr>
        </p:nvSpPr>
        <p:spPr>
          <a:xfrm>
            <a:off x="727650" y="1441200"/>
            <a:ext cx="7688700" cy="341760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Char char="-"/>
            </a:pPr>
            <a:r>
              <a:rPr lang="de" sz="1800"/>
              <a:t>Taiga - Projekt Management</a:t>
            </a:r>
            <a:endParaRPr sz="1800"/>
          </a:p>
          <a:p>
            <a:pPr marL="457200" lvl="0" indent="-342900" algn="l" rtl="0">
              <a:spcBef>
                <a:spcPts val="0"/>
              </a:spcBef>
              <a:spcAft>
                <a:spcPts val="0"/>
              </a:spcAft>
              <a:buSzPts val="1800"/>
              <a:buChar char="-"/>
            </a:pPr>
            <a:r>
              <a:rPr lang="de" sz="1800" dirty="0" err="1"/>
              <a:t>NextCloud</a:t>
            </a:r>
            <a:endParaRPr sz="1800" dirty="0" err="1"/>
          </a:p>
          <a:p>
            <a:pPr marL="457200" lvl="0" indent="-342900" algn="l" rtl="0">
              <a:spcBef>
                <a:spcPts val="0"/>
              </a:spcBef>
              <a:spcAft>
                <a:spcPts val="0"/>
              </a:spcAft>
              <a:buSzPts val="1800"/>
              <a:buChar char="-"/>
            </a:pPr>
            <a:r>
              <a:rPr lang="de" sz="1800" dirty="0" err="1"/>
              <a:t>Gitlab</a:t>
            </a:r>
            <a:r>
              <a:rPr lang="de" sz="1800" dirty="0"/>
              <a:t> / </a:t>
            </a:r>
            <a:r>
              <a:rPr lang="de" sz="1800" dirty="0" err="1"/>
              <a:t>Github</a:t>
            </a:r>
            <a:r>
              <a:rPr lang="de" sz="1800" dirty="0"/>
              <a:t> - </a:t>
            </a:r>
            <a:r>
              <a:rPr lang="de" sz="1800" dirty="0" err="1"/>
              <a:t>Configuration</a:t>
            </a:r>
            <a:r>
              <a:rPr lang="de" sz="1800" dirty="0"/>
              <a:t> Management</a:t>
            </a:r>
            <a:endParaRPr sz="1800" dirty="0"/>
          </a:p>
          <a:p>
            <a:pPr marL="457200" lvl="0" indent="-342900" algn="l" rtl="0">
              <a:spcBef>
                <a:spcPts val="0"/>
              </a:spcBef>
              <a:spcAft>
                <a:spcPts val="0"/>
              </a:spcAft>
              <a:buSzPts val="1800"/>
              <a:buChar char="-"/>
            </a:pPr>
            <a:r>
              <a:rPr lang="de" sz="1800" dirty="0" err="1"/>
              <a:t>Selenium</a:t>
            </a:r>
            <a:r>
              <a:rPr lang="de" sz="1800" dirty="0"/>
              <a:t> (Tests)</a:t>
            </a:r>
            <a:endParaRPr sz="1800" dirty="0"/>
          </a:p>
          <a:p>
            <a:pPr marL="457200" lvl="0" indent="-342900" algn="l" rtl="0">
              <a:spcBef>
                <a:spcPts val="0"/>
              </a:spcBef>
              <a:spcAft>
                <a:spcPts val="0"/>
              </a:spcAft>
              <a:buSzPts val="1800"/>
              <a:buChar char="-"/>
            </a:pPr>
            <a:r>
              <a:rPr lang="de" sz="1800" dirty="0" err="1"/>
              <a:t>JUnit</a:t>
            </a:r>
            <a:r>
              <a:rPr lang="de" sz="1800" dirty="0"/>
              <a:t> (Tests) </a:t>
            </a:r>
            <a:endParaRPr sz="1800" dirty="0"/>
          </a:p>
          <a:p>
            <a:pPr marL="457200" lvl="0" indent="-342900" algn="l" rtl="0">
              <a:spcBef>
                <a:spcPts val="0"/>
              </a:spcBef>
              <a:spcAft>
                <a:spcPts val="0"/>
              </a:spcAft>
              <a:buSzPts val="1800"/>
              <a:buChar char="-"/>
            </a:pPr>
            <a:r>
              <a:rPr lang="de" sz="1800" dirty="0" err="1"/>
              <a:t>IntelliJ</a:t>
            </a:r>
            <a:r>
              <a:rPr lang="de" sz="1800" dirty="0"/>
              <a:t>(IDE)</a:t>
            </a:r>
            <a:endParaRPr sz="1800" dirty="0"/>
          </a:p>
          <a:p>
            <a:pPr marL="457200" lvl="0" indent="-342900" algn="l" rtl="0">
              <a:spcBef>
                <a:spcPts val="0"/>
              </a:spcBef>
              <a:spcAft>
                <a:spcPts val="0"/>
              </a:spcAft>
              <a:buSzPts val="1800"/>
              <a:buChar char="-"/>
            </a:pPr>
            <a:r>
              <a:rPr lang="de" sz="1800" dirty="0"/>
              <a:t>Jenkins - </a:t>
            </a:r>
            <a:r>
              <a:rPr lang="de" sz="1800" dirty="0" err="1"/>
              <a:t>Continuous</a:t>
            </a:r>
            <a:r>
              <a:rPr lang="de" sz="1800" dirty="0"/>
              <a:t> Integration </a:t>
            </a:r>
            <a:endParaRPr sz="1800" dirty="0"/>
          </a:p>
          <a:p>
            <a:pPr marL="457200" lvl="0" indent="-342900" algn="l" rtl="0">
              <a:spcBef>
                <a:spcPts val="0"/>
              </a:spcBef>
              <a:spcAft>
                <a:spcPts val="0"/>
              </a:spcAft>
              <a:buSzPts val="1800"/>
              <a:buChar char="-"/>
            </a:pPr>
            <a:r>
              <a:rPr lang="de" sz="1800" dirty="0"/>
              <a:t>Maven - </a:t>
            </a:r>
            <a:r>
              <a:rPr lang="de" sz="1800" dirty="0" err="1"/>
              <a:t>Build</a:t>
            </a:r>
            <a:r>
              <a:rPr lang="de" sz="1800" dirty="0"/>
              <a:t> Management</a:t>
            </a:r>
            <a:endParaRPr sz="1800" dirty="0"/>
          </a:p>
          <a:p>
            <a:pPr>
              <a:buChar char="-"/>
            </a:pPr>
            <a:r>
              <a:rPr lang="de" sz="1800"/>
              <a:t>Discord</a:t>
            </a:r>
            <a:r>
              <a:rPr lang="de"/>
              <a:t>,</a:t>
            </a:r>
            <a:r>
              <a:rPr lang="de" sz="1800"/>
              <a:t> WhatsApp</a:t>
            </a:r>
            <a:r>
              <a:rPr lang="de"/>
              <a:t> &amp; OneDrive</a:t>
            </a:r>
            <a:endParaRPr sz="1800"/>
          </a:p>
          <a:p>
            <a:pPr marL="457200" lvl="0" indent="-342900" algn="l" rtl="0">
              <a:spcBef>
                <a:spcPts val="0"/>
              </a:spcBef>
              <a:spcAft>
                <a:spcPts val="0"/>
              </a:spcAft>
              <a:buSzPts val="1800"/>
              <a:buChar char="-"/>
            </a:pPr>
            <a:r>
              <a:rPr lang="de" sz="1800" dirty="0" err="1"/>
              <a:t>Vaardin</a:t>
            </a:r>
            <a:r>
              <a:rPr lang="de" sz="1800" dirty="0"/>
              <a:t>, Spring Boot</a:t>
            </a:r>
            <a:endParaRPr sz="1800" dirty="0"/>
          </a:p>
          <a:p>
            <a:pPr marL="457200" lvl="0" indent="-342900" algn="l" rtl="0">
              <a:spcBef>
                <a:spcPts val="0"/>
              </a:spcBef>
              <a:spcAft>
                <a:spcPts val="0"/>
              </a:spcAft>
              <a:buSzPts val="1800"/>
              <a:buChar char="-"/>
            </a:pPr>
            <a:r>
              <a:rPr lang="de" sz="1800" dirty="0" err="1"/>
              <a:t>Balsamiq</a:t>
            </a:r>
            <a:endParaRPr sz="1800" dirty="0" err="1"/>
          </a:p>
          <a:p>
            <a:pPr marL="457200" lvl="0" indent="-342900" algn="l" rtl="0">
              <a:spcBef>
                <a:spcPts val="0"/>
              </a:spcBef>
              <a:spcAft>
                <a:spcPts val="0"/>
              </a:spcAft>
              <a:buSzPts val="1800"/>
              <a:buChar char="-"/>
            </a:pPr>
            <a:r>
              <a:rPr lang="de" sz="1800"/>
              <a:t>PostgreSQL</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729450" y="6401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de" sz="2740"/>
              <a:t>Vision</a:t>
            </a:r>
            <a:endParaRPr sz="2740"/>
          </a:p>
        </p:txBody>
      </p:sp>
      <p:sp>
        <p:nvSpPr>
          <p:cNvPr id="79" name="Google Shape;79;p17"/>
          <p:cNvSpPr txBox="1">
            <a:spLocks noGrp="1"/>
          </p:cNvSpPr>
          <p:nvPr>
            <p:ph type="body" idx="1"/>
          </p:nvPr>
        </p:nvSpPr>
        <p:spPr>
          <a:xfrm>
            <a:off x="727650" y="1441200"/>
            <a:ext cx="7688700" cy="36603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de" sz="1800"/>
              <a:t>St@rtMeUp erfolgreich machen: Entwicklung einer Plattform, die Gründer effektiv beim Aufbau ihres Start-ups unterstützt</a:t>
            </a:r>
            <a:endParaRPr sz="1800"/>
          </a:p>
          <a:p>
            <a:pPr marL="457200" lvl="0" indent="-342900" algn="l" rtl="0">
              <a:spcBef>
                <a:spcPts val="0"/>
              </a:spcBef>
              <a:spcAft>
                <a:spcPts val="0"/>
              </a:spcAft>
              <a:buSzPts val="1800"/>
              <a:buChar char="-"/>
            </a:pPr>
            <a:r>
              <a:rPr lang="de" sz="1800"/>
              <a:t>Benutzerfreundlichkeit im Fokus: Intuitive und leicht verständliche Oberfläche für alle Nutzer</a:t>
            </a:r>
            <a:endParaRPr sz="1800"/>
          </a:p>
          <a:p>
            <a:pPr marL="457200" lvl="0" indent="-342900" algn="l" rtl="0">
              <a:spcBef>
                <a:spcPts val="0"/>
              </a:spcBef>
              <a:spcAft>
                <a:spcPts val="0"/>
              </a:spcAft>
              <a:buSzPts val="1800"/>
              <a:buChar char="-"/>
            </a:pPr>
            <a:r>
              <a:rPr lang="de" sz="1800"/>
              <a:t>Struktur durch Scrum: Klare Sprints, Rollen und regelmäßige Meetings</a:t>
            </a:r>
            <a:endParaRPr sz="1800"/>
          </a:p>
          <a:p>
            <a:pPr marL="457200" lvl="0" indent="-342900" algn="l" rtl="0">
              <a:spcBef>
                <a:spcPts val="0"/>
              </a:spcBef>
              <a:spcAft>
                <a:spcPts val="0"/>
              </a:spcAft>
              <a:buSzPts val="1800"/>
              <a:buChar char="-"/>
            </a:pPr>
            <a:r>
              <a:rPr lang="de" sz="1800"/>
              <a:t>Saubere Softwareentwicklung: Nutzung von Best Practices und verständlichem, wartbarem Code</a:t>
            </a:r>
            <a:endParaRPr sz="1800"/>
          </a:p>
          <a:p>
            <a:pPr marL="457200" lvl="0" indent="-342900" algn="l" rtl="0">
              <a:spcBef>
                <a:spcPts val="0"/>
              </a:spcBef>
              <a:spcAft>
                <a:spcPts val="0"/>
              </a:spcAft>
              <a:buSzPts val="1800"/>
              <a:buChar char="-"/>
            </a:pPr>
            <a:r>
              <a:rPr lang="de" sz="1800"/>
              <a:t>Offene Kommunikation: Ehrlicher Austausch und gegenseitige Unterstützung</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de"/>
              <a:t>Glossar </a:t>
            </a:r>
            <a:endParaRPr/>
          </a:p>
        </p:txBody>
      </p:sp>
      <p:sp>
        <p:nvSpPr>
          <p:cNvPr id="85" name="Google Shape;85;p18"/>
          <p:cNvSpPr txBox="1">
            <a:spLocks noGrp="1"/>
          </p:cNvSpPr>
          <p:nvPr>
            <p:ph type="body" idx="1"/>
          </p:nvPr>
        </p:nvSpPr>
        <p:spPr>
          <a:xfrm>
            <a:off x="453850" y="950450"/>
            <a:ext cx="8520600" cy="3903300"/>
          </a:xfrm>
          <a:prstGeom prst="rect">
            <a:avLst/>
          </a:prstGeom>
        </p:spPr>
        <p:txBody>
          <a:bodyPr spcFirstLastPara="1" wrap="square" lIns="91425" tIns="91425" rIns="91425" bIns="91425" anchor="t" anchorCtr="0">
            <a:normAutofit fontScale="25000" lnSpcReduction="20000"/>
          </a:bodyPr>
          <a:lstStyle/>
          <a:p>
            <a:pPr marL="0" lvl="0" indent="0" algn="ctr" rtl="0">
              <a:spcBef>
                <a:spcPts val="0"/>
              </a:spcBef>
              <a:spcAft>
                <a:spcPts val="0"/>
              </a:spcAft>
              <a:buNone/>
            </a:pPr>
            <a:endParaRPr sz="2000">
              <a:solidFill>
                <a:srgbClr val="000000"/>
              </a:solidFill>
              <a:latin typeface="Arial"/>
              <a:ea typeface="Arial"/>
              <a:cs typeface="Arial"/>
              <a:sym typeface="Arial"/>
            </a:endParaRPr>
          </a:p>
          <a:p>
            <a:pPr marL="0" lvl="0" indent="0" algn="l" rtl="0">
              <a:spcBef>
                <a:spcPts val="0"/>
              </a:spcBef>
              <a:spcAft>
                <a:spcPts val="0"/>
              </a:spcAft>
              <a:buNone/>
            </a:pPr>
            <a:r>
              <a:rPr lang="de" sz="1600">
                <a:solidFill>
                  <a:srgbClr val="000000"/>
                </a:solidFill>
                <a:latin typeface="Arial"/>
                <a:ea typeface="Arial"/>
                <a:cs typeface="Arial"/>
                <a:sym typeface="Arial"/>
              </a:rPr>
              <a:t>Wort</a:t>
            </a:r>
            <a:endParaRPr sz="1600">
              <a:solidFill>
                <a:srgbClr val="000000"/>
              </a:solidFill>
              <a:latin typeface="Arial"/>
              <a:ea typeface="Arial"/>
              <a:cs typeface="Arial"/>
              <a:sym typeface="Arial"/>
            </a:endParaRPr>
          </a:p>
          <a:p>
            <a:pPr marL="0" lvl="0" indent="0" algn="l" rtl="0">
              <a:spcBef>
                <a:spcPts val="0"/>
              </a:spcBef>
              <a:spcAft>
                <a:spcPts val="0"/>
              </a:spcAft>
              <a:buNone/>
            </a:pPr>
            <a:r>
              <a:rPr lang="de" sz="1600">
                <a:solidFill>
                  <a:srgbClr val="000000"/>
                </a:solidFill>
                <a:latin typeface="Arial"/>
                <a:ea typeface="Arial"/>
                <a:cs typeface="Arial"/>
                <a:sym typeface="Arial"/>
              </a:rPr>
              <a:t>Bedeutung</a:t>
            </a:r>
            <a:endParaRPr sz="1600">
              <a:solidFill>
                <a:srgbClr val="000000"/>
              </a:solidFill>
              <a:latin typeface="Arial"/>
              <a:ea typeface="Arial"/>
              <a:cs typeface="Arial"/>
              <a:sym typeface="Arial"/>
            </a:endParaRPr>
          </a:p>
          <a:p>
            <a:pPr marL="0" lvl="0" indent="0" algn="l" rtl="0">
              <a:spcBef>
                <a:spcPts val="0"/>
              </a:spcBef>
              <a:spcAft>
                <a:spcPts val="0"/>
              </a:spcAft>
              <a:buNone/>
            </a:pPr>
            <a:r>
              <a:rPr lang="de" sz="1600">
                <a:solidFill>
                  <a:srgbClr val="000000"/>
                </a:solidFill>
                <a:latin typeface="Arial"/>
                <a:ea typeface="Arial"/>
                <a:cs typeface="Arial"/>
                <a:sym typeface="Arial"/>
              </a:rPr>
              <a:t>Synonyme</a:t>
            </a:r>
            <a:endParaRPr sz="16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Ausschreibung</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 Angebot oder Gesuch eines Start-ups (z. B. für Jobs, Praktika oder Projekte), das auf der Plattform hinterlegt wird.</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Anzeige, Inserat, Posting</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Black-Liste</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Eine Liste zur Sperrung von Start-ups, die durch unseriöses Verhalten oder Betrugsversuche negativ aufgefallen sind.</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Sperrliste, Verbotsliste</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CarLook</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 Framework auf Basis von Vaadin, das als technische Grundlage für die Entwicklung der Plattform dient.</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Basis-Framework, Entwicklungs-Grundlage</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Crowdfunding</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Eine Methode der Finanzierung, bei der Projekte durch eine Vielzahl von Geldgebern (Crowd) über die Plattform unterstützt werden.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Schwarmfinanzierung</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Gründungsidee</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 Entwurf für ein neues Unternehmen, der auf der Plattform eingereicht, bewertet und kommentiert werden kann.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Startup-Konzept, Geschäftsidee</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KI:connect</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Eine spezifische Plattform oder Schnittstelle zur Integration von KI-Modellen (wie z. B. Llama) in die Anwendung.</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KI-Schnittstelle, AI-Gateway</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Landing Page</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Die zentrale Startseite der Web-Anwendung, die die wichtigsten Informationen bündelt und Nutzer ansprechen soll.</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Startseite, Einstiegsseite</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Matching-System</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 Algorithmus, der Studenten Profile von Start-ups vorschlägt, die zu ihren Fähigkeiten passen.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Empfehlungssystem, Recommender-System</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Pitch</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Eine kurze Präsentation einer Geschäftsidee vor potenziellen Investoren, die über die Plattform verwaltet werden kann.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Kurzpräsentation, Verkaufsgespräch</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Responsive Design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Die technische Eigenschaft der Anwendung, sich flexibel an verschiedene Bildschirmgrößen (PC, Handy, Tablet) anzupassen.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Portabilität, Anpassungsfähigkeit</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SEPP</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Die IT-Infrastruktur bzw. die Netzwerkrechner der Hochschule Bonn-Rhein-Sieg, auf denen das Deployment der Anwendung erfolgt.</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Hosting-Umgebung, Zielsystem</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Stakeholder</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Alle Personen oder Organisationen, die ein berechtigtes Interesse am Erfolg oder den Anforderungen des Projekts haben.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Interessengruppen, Projektbeteiligte</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Studenten-Profil</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Eine digitale Darstellung eines Studenten mit Angaben zu Studium, Kompetenzen, Interessen und ggf. Links zu Netzwerken wie LinkedIn.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Nutzerprofil, Studierenden-Account</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Team-Findungs-Event</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Eine organisierte Veranstaltung auf der Plattform, um Mitstreiter für Start-up-Ideen zusammenzubringen.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Networking-Event, Teambuilding-Sitzung</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Vaadin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Das vorgeschriebene Java-Web-Framework (speziell Version 24 LTS) zur Implementierung der Benutzeroberfläche.</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UI-Framework</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arc42</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 Standard-Template für die Dokumentation von Softwarearchitekturen, das hier in Sprints entwickelt werden soll.</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Architekturmodell, Dokumentationsstruktur</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Authentification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Der Prozess zur Überprüfung der Identität eines Nutzers beim Login zur Sicherung der Plattform.</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Authentifizierung, Anmeldung, Identitätsnachweis</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DSGVO</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Die Datenschutz-Grundverordnung, deren Rahmenbedingungen zwingend einzuhalten sind, um Klagen zu vermeiden.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Datenschutzrecht, GDPR</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Epic</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Eine übergeordnete, umfangreiche User Story, die in kleinere Aufgaben unterteilt werden kann.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Grobanforderung, Hauptfunktionalität</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Journey Map</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Eine visuelle Darstellung der Erfahrungen, Emotionen und Berührungspunkte eines Nutzers mit der Plattform.</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Customer Journey, Benutzerreise</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Mock-Up</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 statisches oder interaktives Design-Modell der Benutzeroberfläche zur frühen Evaluierung.</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Entwurf, Prototyp, UI-Design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PostgreSQL</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Das spezifische relationale Datenbanksystem, das für die persistente Datenspeicherung genutzt werden muss.</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Datenbank, DB-System</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Quality Gate</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 definierter Qualitätscheck in SonarQube, der entscheiden kann, ob Code als "erfolgreich" gilt oder abgelehnt wird.</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Qualitätshürde, Abnahmekriterium</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Requirements-Matrix</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Eine tabellarische Übersicht zur Verwaltung und Visualisierung von Anforderungen und deren Abhängigkeiten.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Anforderungsliste, Rückverfolgbarkeitsmatrix</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SEO</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Maßnahmen zur Suchmaschinenoptimierung (Onpage/Offpage), um die Sichtbarkeit der Plattform zu erhöhen.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Suchmaschinenoptimierung</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SonarQube</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 Werkzeug zur statischen Code-Analyse, um technische Schulden und "Bad Code Smells" zu identifizieren.</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Code-Analyse-Tool, Qualitätskontrolle</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USP</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Ein Alleinstellungsmerkmal, das die Plattform von anderen abhebt (hier z. B. die KI-Anbindung).</a:t>
            </a:r>
            <a:endParaRPr sz="1200">
              <a:solidFill>
                <a:srgbClr val="000000"/>
              </a:solidFill>
              <a:latin typeface="Arial"/>
              <a:ea typeface="Arial"/>
              <a:cs typeface="Arial"/>
              <a:sym typeface="Arial"/>
            </a:endParaRPr>
          </a:p>
          <a:p>
            <a:pPr marL="0" lvl="0" indent="0" algn="l" rtl="0">
              <a:spcBef>
                <a:spcPts val="0"/>
              </a:spcBef>
              <a:spcAft>
                <a:spcPts val="0"/>
              </a:spcAft>
              <a:buNone/>
            </a:pPr>
            <a:r>
              <a:rPr lang="de" sz="1200">
                <a:solidFill>
                  <a:srgbClr val="000000"/>
                </a:solidFill>
                <a:latin typeface="Arial"/>
                <a:ea typeface="Arial"/>
                <a:cs typeface="Arial"/>
                <a:sym typeface="Arial"/>
              </a:rPr>
              <a:t>Alleinstellungsmerkmal, Kernvorteil</a:t>
            </a:r>
            <a:endParaRPr sz="1200">
              <a:solidFill>
                <a:srgbClr val="000000"/>
              </a:solidFill>
              <a:latin typeface="Arial"/>
              <a:ea typeface="Arial"/>
              <a:cs typeface="Arial"/>
              <a:sym typeface="Arial"/>
            </a:endParaRPr>
          </a:p>
          <a:p>
            <a:pPr marL="0" lvl="0" indent="0" algn="l" rtl="0">
              <a:spcBef>
                <a:spcPts val="0"/>
              </a:spcBef>
              <a:spcAft>
                <a:spcPts val="120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659775" y="610625"/>
            <a:ext cx="4067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de"/>
              <a:t>Personas - Student</a:t>
            </a:r>
            <a:endParaRPr/>
          </a:p>
        </p:txBody>
      </p:sp>
      <p:sp>
        <p:nvSpPr>
          <p:cNvPr id="91" name="Google Shape;91;p19"/>
          <p:cNvSpPr txBox="1">
            <a:spLocks noGrp="1"/>
          </p:cNvSpPr>
          <p:nvPr>
            <p:ph type="body" idx="1"/>
          </p:nvPr>
        </p:nvSpPr>
        <p:spPr>
          <a:xfrm>
            <a:off x="288100" y="2108600"/>
            <a:ext cx="3701100" cy="27759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endParaRPr sz="1100">
              <a:solidFill>
                <a:srgbClr val="000000"/>
              </a:solidFill>
            </a:endParaRPr>
          </a:p>
          <a:p>
            <a:pPr marL="0" lvl="0" indent="0" algn="l" rtl="0">
              <a:spcBef>
                <a:spcPts val="1200"/>
              </a:spcBef>
              <a:spcAft>
                <a:spcPts val="1200"/>
              </a:spcAft>
              <a:buNone/>
            </a:pPr>
            <a:endParaRPr/>
          </a:p>
        </p:txBody>
      </p:sp>
      <p:sp>
        <p:nvSpPr>
          <p:cNvPr id="92" name="Google Shape;92;p19"/>
          <p:cNvSpPr/>
          <p:nvPr/>
        </p:nvSpPr>
        <p:spPr>
          <a:xfrm>
            <a:off x="568650" y="1366425"/>
            <a:ext cx="3624300" cy="3518100"/>
          </a:xfrm>
          <a:prstGeom prst="snip1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1200"/>
              </a:spcBef>
              <a:spcAft>
                <a:spcPts val="0"/>
              </a:spcAft>
              <a:buNone/>
            </a:pPr>
            <a:r>
              <a:rPr lang="de" sz="1000" b="1">
                <a:ea typeface="Lato"/>
                <a:sym typeface="Lato"/>
              </a:rPr>
              <a:t>Felix Alder(Student)</a:t>
            </a:r>
            <a:endParaRPr sz="1000" b="1">
              <a:ea typeface="Lato"/>
              <a:sym typeface="Lato"/>
            </a:endParaRPr>
          </a:p>
          <a:p>
            <a:pPr marL="457200" lvl="0" indent="-292100" algn="l" rtl="0">
              <a:lnSpc>
                <a:spcPct val="115000"/>
              </a:lnSpc>
              <a:spcBef>
                <a:spcPts val="1200"/>
              </a:spcBef>
              <a:spcAft>
                <a:spcPts val="0"/>
              </a:spcAft>
              <a:buSzPts val="1000"/>
              <a:buFont typeface="Lato"/>
              <a:buChar char="●"/>
            </a:pPr>
            <a:r>
              <a:rPr lang="de" sz="1000">
                <a:ea typeface="Lato"/>
                <a:sym typeface="Lato"/>
              </a:rPr>
              <a:t>22 Jahre alt</a:t>
            </a:r>
            <a:endParaRPr sz="1000">
              <a:ea typeface="Lato"/>
              <a:sym typeface="Lato"/>
            </a:endParaRPr>
          </a:p>
          <a:p>
            <a:pPr marL="457200" lvl="0" indent="-292100" algn="l" rtl="0">
              <a:lnSpc>
                <a:spcPct val="115000"/>
              </a:lnSpc>
              <a:spcBef>
                <a:spcPts val="0"/>
              </a:spcBef>
              <a:spcAft>
                <a:spcPts val="0"/>
              </a:spcAft>
              <a:buSzPts val="1000"/>
              <a:buFont typeface="Lato"/>
              <a:buChar char="●"/>
            </a:pPr>
            <a:r>
              <a:rPr lang="de" sz="1000">
                <a:ea typeface="Lato"/>
                <a:sym typeface="Lato"/>
              </a:rPr>
              <a:t>Bachelor Erneuerbare Technologien</a:t>
            </a:r>
            <a:endParaRPr sz="1000">
              <a:ea typeface="Lato"/>
              <a:sym typeface="Lato"/>
            </a:endParaRPr>
          </a:p>
          <a:p>
            <a:pPr marL="457200" lvl="0" indent="-292100" algn="l" rtl="0">
              <a:lnSpc>
                <a:spcPct val="115000"/>
              </a:lnSpc>
              <a:spcBef>
                <a:spcPts val="0"/>
              </a:spcBef>
              <a:spcAft>
                <a:spcPts val="0"/>
              </a:spcAft>
              <a:buSzPts val="1000"/>
              <a:buFont typeface="Lato"/>
              <a:buChar char="●"/>
            </a:pPr>
            <a:r>
              <a:rPr lang="de" sz="1000">
                <a:ea typeface="Lato"/>
                <a:sym typeface="Lato"/>
              </a:rPr>
              <a:t>engagiert sich in nachhaltigen Hochschulprojekten</a:t>
            </a:r>
            <a:endParaRPr sz="1000">
              <a:ea typeface="Lato"/>
              <a:sym typeface="Lato"/>
            </a:endParaRPr>
          </a:p>
          <a:p>
            <a:pPr marL="457200" lvl="0" indent="-292100" algn="l" rtl="0">
              <a:lnSpc>
                <a:spcPct val="115000"/>
              </a:lnSpc>
              <a:spcBef>
                <a:spcPts val="0"/>
              </a:spcBef>
              <a:spcAft>
                <a:spcPts val="0"/>
              </a:spcAft>
              <a:buSzPts val="1000"/>
              <a:buFont typeface="Lato"/>
              <a:buChar char="●"/>
            </a:pPr>
            <a:r>
              <a:rPr lang="de" sz="1000">
                <a:ea typeface="Lato"/>
                <a:sym typeface="Lato"/>
              </a:rPr>
              <a:t>besitzt seit 4 Jahren ein Android-Smartphone</a:t>
            </a:r>
            <a:endParaRPr sz="1000">
              <a:ea typeface="Lato"/>
              <a:sym typeface="Lato"/>
            </a:endParaRPr>
          </a:p>
          <a:p>
            <a:pPr marL="457200" lvl="0" indent="-292100" algn="l" rtl="0">
              <a:lnSpc>
                <a:spcPct val="115000"/>
              </a:lnSpc>
              <a:spcBef>
                <a:spcPts val="0"/>
              </a:spcBef>
              <a:spcAft>
                <a:spcPts val="0"/>
              </a:spcAft>
              <a:buSzPts val="1000"/>
              <a:buFont typeface="Lato"/>
              <a:buChar char="●"/>
            </a:pPr>
            <a:r>
              <a:rPr lang="de" sz="1000">
                <a:ea typeface="Lato"/>
                <a:sym typeface="Lato"/>
              </a:rPr>
              <a:t>recherchiert wöchentlich nach neuen Start-Up-Trends</a:t>
            </a:r>
            <a:endParaRPr sz="1000">
              <a:ea typeface="Lato"/>
              <a:sym typeface="Lato"/>
            </a:endParaRPr>
          </a:p>
          <a:p>
            <a:pPr marL="0" lvl="0" indent="0" algn="l" rtl="0">
              <a:lnSpc>
                <a:spcPct val="115000"/>
              </a:lnSpc>
              <a:spcBef>
                <a:spcPts val="1200"/>
              </a:spcBef>
              <a:spcAft>
                <a:spcPts val="0"/>
              </a:spcAft>
              <a:buNone/>
            </a:pPr>
            <a:r>
              <a:rPr lang="de" sz="1000">
                <a:ea typeface="Lato"/>
                <a:sym typeface="Lato"/>
              </a:rPr>
              <a:t>„Ich will eine responsive Web-Anwendung, die ich auch auf dem Smartphone nutzen kann. Sie soll eine </a:t>
            </a:r>
            <a:r>
              <a:rPr lang="de" sz="1000" u="sng">
                <a:ea typeface="Lato"/>
                <a:sym typeface="Lato"/>
              </a:rPr>
              <a:t>intelligente Vorschlagsfunktion</a:t>
            </a:r>
            <a:r>
              <a:rPr lang="de" sz="1000">
                <a:ea typeface="Lato"/>
                <a:sym typeface="Lato"/>
              </a:rPr>
              <a:t> haben, die mir – ähnlich wie Produktempfehlungen bei Amazon – automatisch die Start-Ups anzeigt, die genau meine technischen Fähigkeiten im Bereich erneuerbare Energien suchen. Ich möchte so ganz unkompliziert mit Gründern in Kontakt treten und mein Know-how für coole, nachhaltige Ideen anbieten!“</a:t>
            </a:r>
            <a:endParaRPr sz="1000">
              <a:ea typeface="Lato"/>
              <a:sym typeface="Lato"/>
            </a:endParaRPr>
          </a:p>
          <a:p>
            <a:pPr marL="0" lvl="0" indent="0" algn="ctr" rtl="0">
              <a:spcBef>
                <a:spcPts val="1200"/>
              </a:spcBef>
              <a:spcAft>
                <a:spcPts val="0"/>
              </a:spcAft>
              <a:buNone/>
            </a:pPr>
            <a:endParaRPr>
              <a:ea typeface="Lato"/>
              <a:sym typeface="Lato"/>
            </a:endParaRPr>
          </a:p>
        </p:txBody>
      </p:sp>
      <p:sp>
        <p:nvSpPr>
          <p:cNvPr id="93" name="Google Shape;93;p19"/>
          <p:cNvSpPr/>
          <p:nvPr/>
        </p:nvSpPr>
        <p:spPr>
          <a:xfrm>
            <a:off x="4820475" y="1366425"/>
            <a:ext cx="3701100" cy="3518100"/>
          </a:xfrm>
          <a:prstGeom prst="snip1Rect">
            <a:avLst>
              <a:gd name="adj" fmla="val 16667"/>
            </a:avLst>
          </a:prstGeom>
          <a:solidFill>
            <a:srgbClr val="FFD9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de" sz="1000" b="1">
                <a:ea typeface="Lato"/>
                <a:sym typeface="Lato"/>
              </a:rPr>
              <a:t>Hanna Kless</a:t>
            </a:r>
            <a:endParaRPr sz="1000" b="1">
              <a:ea typeface="Lato"/>
              <a:sym typeface="Lato"/>
            </a:endParaRPr>
          </a:p>
          <a:p>
            <a:pPr marL="457200" lvl="0" indent="-292100" algn="l" rtl="0">
              <a:lnSpc>
                <a:spcPct val="115000"/>
              </a:lnSpc>
              <a:spcBef>
                <a:spcPts val="1200"/>
              </a:spcBef>
              <a:spcAft>
                <a:spcPts val="0"/>
              </a:spcAft>
              <a:buSzPts val="1000"/>
              <a:buFont typeface="Lato"/>
              <a:buChar char="●"/>
            </a:pPr>
            <a:r>
              <a:rPr lang="de" sz="1000">
                <a:ea typeface="Lato"/>
                <a:sym typeface="Lato"/>
              </a:rPr>
              <a:t>28 Jahre alt</a:t>
            </a:r>
            <a:endParaRPr sz="1000">
              <a:ea typeface="Lato"/>
              <a:sym typeface="Lato"/>
            </a:endParaRPr>
          </a:p>
          <a:p>
            <a:pPr marL="457200" lvl="0" indent="-292100" algn="l" rtl="0">
              <a:lnSpc>
                <a:spcPct val="115000"/>
              </a:lnSpc>
              <a:spcBef>
                <a:spcPts val="0"/>
              </a:spcBef>
              <a:spcAft>
                <a:spcPts val="0"/>
              </a:spcAft>
              <a:buSzPts val="1000"/>
              <a:buFont typeface="Lato"/>
              <a:buChar char="●"/>
            </a:pPr>
            <a:r>
              <a:rPr lang="de" sz="1000">
                <a:ea typeface="Lato"/>
                <a:sym typeface="Lato"/>
              </a:rPr>
              <a:t>Master Betriebswirtschaftslehre (BWL)</a:t>
            </a:r>
            <a:endParaRPr sz="1000">
              <a:ea typeface="Lato"/>
              <a:sym typeface="Lato"/>
            </a:endParaRPr>
          </a:p>
          <a:p>
            <a:pPr marL="457200" lvl="0" indent="-292100" algn="l" rtl="0">
              <a:lnSpc>
                <a:spcPct val="115000"/>
              </a:lnSpc>
              <a:spcBef>
                <a:spcPts val="0"/>
              </a:spcBef>
              <a:spcAft>
                <a:spcPts val="0"/>
              </a:spcAft>
              <a:buSzPts val="1000"/>
              <a:buFont typeface="Lato"/>
              <a:buChar char="●"/>
            </a:pPr>
            <a:r>
              <a:rPr lang="de" sz="1000">
                <a:ea typeface="Lato"/>
                <a:sym typeface="Lato"/>
              </a:rPr>
              <a:t>sucht ein innovatives Start-Up für ihre Masterarbeit und den Berufseinstieg</a:t>
            </a:r>
            <a:endParaRPr sz="1000">
              <a:ea typeface="Lato"/>
              <a:sym typeface="Lato"/>
            </a:endParaRPr>
          </a:p>
          <a:p>
            <a:pPr marL="457200" lvl="0" indent="-292100" algn="l" rtl="0">
              <a:lnSpc>
                <a:spcPct val="115000"/>
              </a:lnSpc>
              <a:spcBef>
                <a:spcPts val="0"/>
              </a:spcBef>
              <a:spcAft>
                <a:spcPts val="0"/>
              </a:spcAft>
              <a:buSzPts val="1000"/>
              <a:buFont typeface="Lato"/>
              <a:buChar char="●"/>
            </a:pPr>
            <a:r>
              <a:rPr lang="de" sz="1000">
                <a:ea typeface="Lato"/>
                <a:sym typeface="Lato"/>
              </a:rPr>
              <a:t>nutzt für die Recherche fast ausschließlich ihr Smartphone</a:t>
            </a:r>
            <a:endParaRPr sz="1000">
              <a:ea typeface="Lato"/>
              <a:sym typeface="Lato"/>
            </a:endParaRPr>
          </a:p>
          <a:p>
            <a:pPr marL="457200" lvl="0" indent="-292100" algn="l" rtl="0">
              <a:lnSpc>
                <a:spcPct val="115000"/>
              </a:lnSpc>
              <a:spcBef>
                <a:spcPts val="0"/>
              </a:spcBef>
              <a:spcAft>
                <a:spcPts val="0"/>
              </a:spcAft>
              <a:buSzPts val="1000"/>
              <a:buFont typeface="Lato"/>
              <a:buChar char="●"/>
            </a:pPr>
            <a:r>
              <a:rPr lang="de" sz="1000">
                <a:ea typeface="Lato"/>
                <a:sym typeface="Lato"/>
              </a:rPr>
              <a:t>legt großen Wert auf schnelle Benachrichtigungen bei passenden Stellen</a:t>
            </a:r>
            <a:endParaRPr sz="1000">
              <a:ea typeface="Lato"/>
              <a:sym typeface="Lato"/>
            </a:endParaRPr>
          </a:p>
          <a:p>
            <a:pPr marL="0" lvl="0" indent="0" algn="l" rtl="0">
              <a:lnSpc>
                <a:spcPct val="115000"/>
              </a:lnSpc>
              <a:spcBef>
                <a:spcPts val="1200"/>
              </a:spcBef>
              <a:spcAft>
                <a:spcPts val="0"/>
              </a:spcAft>
              <a:buNone/>
            </a:pPr>
            <a:r>
              <a:rPr lang="de" sz="1000">
                <a:ea typeface="Lato"/>
                <a:sym typeface="Lato"/>
              </a:rPr>
              <a:t>„Ich habe aktuell nicht vor, selbst zu gründen, suche aber ein spannendes Start-Up für meine Masterarbeit und den späteren Berufseinstieg. Dafür brauche ich unbedingt eine echte Mobile App, mit der ich auch von unterwegs Start-Up-Profile durchstöbern und bewerten kann. Es ist mir extrem wichtig, dass ich per Push-Nachricht auf dem Handy direkt informiert werde, sobald ein Unternehmen jemanden mit meinem betriebswirtschaftlichen Know-how sucht!“</a:t>
            </a:r>
            <a:endParaRPr sz="1000">
              <a:ea typeface="Lato"/>
              <a:sym typeface="Lato"/>
            </a:endParaRPr>
          </a:p>
          <a:p>
            <a:pPr marL="0" lvl="0" indent="0" algn="ctr" rtl="0">
              <a:spcBef>
                <a:spcPts val="1200"/>
              </a:spcBef>
              <a:spcAft>
                <a:spcPts val="0"/>
              </a:spcAft>
              <a:buNone/>
            </a:pPr>
            <a:endParaRPr>
              <a:ea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659775" y="610625"/>
            <a:ext cx="4280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de"/>
              <a:t>Personas - Start-Up-Gründer</a:t>
            </a:r>
            <a:endParaRPr/>
          </a:p>
        </p:txBody>
      </p:sp>
      <p:sp>
        <p:nvSpPr>
          <p:cNvPr id="99" name="Google Shape;99;p20"/>
          <p:cNvSpPr txBox="1">
            <a:spLocks noGrp="1"/>
          </p:cNvSpPr>
          <p:nvPr>
            <p:ph type="body" idx="1"/>
          </p:nvPr>
        </p:nvSpPr>
        <p:spPr>
          <a:xfrm>
            <a:off x="288100" y="2108600"/>
            <a:ext cx="3701100" cy="27759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endParaRPr sz="1100">
              <a:solidFill>
                <a:srgbClr val="000000"/>
              </a:solidFill>
            </a:endParaRPr>
          </a:p>
          <a:p>
            <a:pPr marL="0" lvl="0" indent="0" algn="l" rtl="0">
              <a:spcBef>
                <a:spcPts val="1200"/>
              </a:spcBef>
              <a:spcAft>
                <a:spcPts val="1200"/>
              </a:spcAft>
              <a:buNone/>
            </a:pPr>
            <a:endParaRPr/>
          </a:p>
        </p:txBody>
      </p:sp>
      <p:sp>
        <p:nvSpPr>
          <p:cNvPr id="100" name="Google Shape;100;p20"/>
          <p:cNvSpPr/>
          <p:nvPr/>
        </p:nvSpPr>
        <p:spPr>
          <a:xfrm>
            <a:off x="475300" y="1400475"/>
            <a:ext cx="3429000" cy="3386700"/>
          </a:xfrm>
          <a:prstGeom prst="snip1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de" sz="1100" b="1" u="sng">
                <a:ea typeface="Lato"/>
                <a:sym typeface="Lato"/>
              </a:rPr>
              <a:t>Lukas Keller (Gründer)</a:t>
            </a:r>
            <a:endParaRPr sz="1100" b="1" u="sng">
              <a:ea typeface="Lato"/>
              <a:sym typeface="Lato"/>
            </a:endParaRPr>
          </a:p>
          <a:p>
            <a:pPr marL="0" lvl="0" indent="0" algn="l" rtl="0">
              <a:spcBef>
                <a:spcPts val="0"/>
              </a:spcBef>
              <a:spcAft>
                <a:spcPts val="0"/>
              </a:spcAft>
              <a:buNone/>
            </a:pPr>
            <a:endParaRPr sz="1000">
              <a:ea typeface="Lato"/>
              <a:sym typeface="Lato"/>
            </a:endParaRPr>
          </a:p>
          <a:p>
            <a:pPr marL="457200" lvl="0" indent="-292100" algn="l" rtl="0">
              <a:spcBef>
                <a:spcPts val="0"/>
              </a:spcBef>
              <a:spcAft>
                <a:spcPts val="0"/>
              </a:spcAft>
              <a:buSzPts val="1000"/>
              <a:buFont typeface="Lato"/>
              <a:buChar char="●"/>
            </a:pPr>
            <a:r>
              <a:rPr lang="de" sz="1000">
                <a:ea typeface="Lato"/>
                <a:sym typeface="Lato"/>
              </a:rPr>
              <a:t>26 Jahre alt</a:t>
            </a:r>
            <a:endParaRPr sz="1000">
              <a:ea typeface="Lato"/>
              <a:sym typeface="Lato"/>
            </a:endParaRPr>
          </a:p>
          <a:p>
            <a:pPr marL="457200" lvl="0" indent="-292100" algn="l" rtl="0">
              <a:spcBef>
                <a:spcPts val="0"/>
              </a:spcBef>
              <a:spcAft>
                <a:spcPts val="0"/>
              </a:spcAft>
              <a:buSzPts val="1000"/>
              <a:buFont typeface="Lato"/>
              <a:buChar char="●"/>
            </a:pPr>
            <a:r>
              <a:rPr lang="de" sz="1000">
                <a:ea typeface="Lato"/>
                <a:sym typeface="Lato"/>
              </a:rPr>
              <a:t>Bachelor Informatik, 6. Semester</a:t>
            </a:r>
            <a:endParaRPr sz="1000">
              <a:ea typeface="Lato"/>
              <a:sym typeface="Lato"/>
            </a:endParaRPr>
          </a:p>
          <a:p>
            <a:pPr marL="457200" lvl="0" indent="-292100" algn="l" rtl="0">
              <a:spcBef>
                <a:spcPts val="0"/>
              </a:spcBef>
              <a:spcAft>
                <a:spcPts val="0"/>
              </a:spcAft>
              <a:buSzPts val="1000"/>
              <a:buFont typeface="Lato"/>
              <a:buChar char="●"/>
            </a:pPr>
            <a:r>
              <a:rPr lang="de" sz="1000">
                <a:ea typeface="Lato"/>
                <a:sym typeface="Lato"/>
              </a:rPr>
              <a:t>Arbeitet nebenbei als Werkstudent in einem Web-Startup</a:t>
            </a:r>
            <a:endParaRPr sz="1000">
              <a:ea typeface="Lato"/>
              <a:sym typeface="Lato"/>
            </a:endParaRPr>
          </a:p>
          <a:p>
            <a:pPr marL="457200" lvl="0" indent="-292100" algn="l" rtl="0">
              <a:spcBef>
                <a:spcPts val="0"/>
              </a:spcBef>
              <a:spcAft>
                <a:spcPts val="0"/>
              </a:spcAft>
              <a:buSzPts val="1000"/>
              <a:buFont typeface="Lato"/>
              <a:buChar char="●"/>
            </a:pPr>
            <a:r>
              <a:rPr lang="de" sz="1000">
                <a:ea typeface="Lato"/>
                <a:sym typeface="Lato"/>
              </a:rPr>
              <a:t>Entwickelt seit einem Jahr an einer eigenen Idee für eine Lernplattform</a:t>
            </a:r>
            <a:endParaRPr sz="1000">
              <a:ea typeface="Lato"/>
              <a:sym typeface="Lato"/>
            </a:endParaRPr>
          </a:p>
          <a:p>
            <a:pPr marL="457200" lvl="0" indent="-292100" algn="l" rtl="0">
              <a:spcBef>
                <a:spcPts val="0"/>
              </a:spcBef>
              <a:spcAft>
                <a:spcPts val="0"/>
              </a:spcAft>
              <a:buSzPts val="1000"/>
              <a:buFont typeface="Lato"/>
              <a:buChar char="●"/>
            </a:pPr>
            <a:r>
              <a:rPr lang="de" sz="1000">
                <a:ea typeface="Lato"/>
                <a:sym typeface="Lato"/>
              </a:rPr>
              <a:t>Sucht aktiv Mitgründer mit BWL- oder Marketing-Hintergrund</a:t>
            </a:r>
            <a:endParaRPr sz="1000">
              <a:ea typeface="Lato"/>
              <a:sym typeface="Lato"/>
            </a:endParaRPr>
          </a:p>
          <a:p>
            <a:pPr marL="0" lvl="0" indent="0" algn="l" rtl="0">
              <a:spcBef>
                <a:spcPts val="0"/>
              </a:spcBef>
              <a:spcAft>
                <a:spcPts val="0"/>
              </a:spcAft>
              <a:buNone/>
            </a:pPr>
            <a:endParaRPr sz="1000">
              <a:ea typeface="Lato"/>
              <a:sym typeface="Lato"/>
            </a:endParaRPr>
          </a:p>
          <a:p>
            <a:pPr marL="0" lvl="0" indent="0" algn="l" rtl="0">
              <a:spcBef>
                <a:spcPts val="0"/>
              </a:spcBef>
              <a:spcAft>
                <a:spcPts val="0"/>
              </a:spcAft>
              <a:buNone/>
            </a:pPr>
            <a:r>
              <a:rPr lang="de" sz="1000">
                <a:ea typeface="Lato"/>
                <a:sym typeface="Lato"/>
              </a:rPr>
              <a:t>“</a:t>
            </a:r>
            <a:r>
              <a:rPr lang="de" sz="1000" i="1">
                <a:ea typeface="Lato"/>
                <a:sym typeface="Lato"/>
              </a:rPr>
              <a:t>Ich hab die technische Seite soweit im Griff — ich kann die Plattform bauen. Aber ich hab keine Ahnung wie man ein Unternehmen gründet, einen Businessplan schreibt oder Investoren anspricht. Ich weiß nicht mal wo ich anfangen soll, die richtigen Leute dafür zu finden. LinkedIn fühlt sich viel zu formal an für sowas, und im Freundeskreis ist niemand dabei der das kann. </a:t>
            </a:r>
            <a:r>
              <a:rPr lang="de" sz="1000">
                <a:ea typeface="Lato"/>
                <a:sym typeface="Lato"/>
              </a:rPr>
              <a:t>”</a:t>
            </a:r>
            <a:endParaRPr sz="1000">
              <a:ea typeface="Lato"/>
              <a:sym typeface="Lato"/>
            </a:endParaRPr>
          </a:p>
        </p:txBody>
      </p:sp>
      <p:sp>
        <p:nvSpPr>
          <p:cNvPr id="101" name="Google Shape;101;p20"/>
          <p:cNvSpPr/>
          <p:nvPr/>
        </p:nvSpPr>
        <p:spPr>
          <a:xfrm>
            <a:off x="4727600" y="1400475"/>
            <a:ext cx="3615600" cy="3386700"/>
          </a:xfrm>
          <a:prstGeom prst="snip1Rect">
            <a:avLst>
              <a:gd name="adj" fmla="val 16667"/>
            </a:avLst>
          </a:prstGeom>
          <a:solidFill>
            <a:srgbClr val="FFD966"/>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de" sz="1100" b="1" u="sng">
                <a:ea typeface="Lato"/>
                <a:sym typeface="Lato"/>
              </a:rPr>
              <a:t>Sandra Meier (Gründerin)</a:t>
            </a:r>
            <a:endParaRPr sz="1100" b="1" u="sng">
              <a:ea typeface="Lato"/>
              <a:sym typeface="Lato"/>
            </a:endParaRPr>
          </a:p>
          <a:p>
            <a:pPr marL="0" lvl="0" indent="0" algn="l" rtl="0">
              <a:spcBef>
                <a:spcPts val="0"/>
              </a:spcBef>
              <a:spcAft>
                <a:spcPts val="0"/>
              </a:spcAft>
              <a:buNone/>
            </a:pPr>
            <a:endParaRPr>
              <a:ea typeface="Lato"/>
              <a:sym typeface="Lato"/>
            </a:endParaRPr>
          </a:p>
          <a:p>
            <a:pPr marL="457200" lvl="0" indent="-292100" algn="l" rtl="0">
              <a:spcBef>
                <a:spcPts val="0"/>
              </a:spcBef>
              <a:spcAft>
                <a:spcPts val="0"/>
              </a:spcAft>
              <a:buSzPts val="1000"/>
              <a:buFont typeface="Lato"/>
              <a:buChar char="●"/>
            </a:pPr>
            <a:r>
              <a:rPr lang="de" sz="1000">
                <a:ea typeface="Lato"/>
                <a:sym typeface="Lato"/>
              </a:rPr>
              <a:t>34 Jahre alt</a:t>
            </a:r>
            <a:endParaRPr sz="1000">
              <a:ea typeface="Lato"/>
              <a:sym typeface="Lato"/>
            </a:endParaRPr>
          </a:p>
          <a:p>
            <a:pPr marL="457200" lvl="0" indent="-292100" algn="l" rtl="0">
              <a:spcBef>
                <a:spcPts val="0"/>
              </a:spcBef>
              <a:spcAft>
                <a:spcPts val="0"/>
              </a:spcAft>
              <a:buSzPts val="1000"/>
              <a:buFont typeface="Lato"/>
              <a:buChar char="●"/>
            </a:pPr>
            <a:r>
              <a:rPr lang="de" sz="1000">
                <a:ea typeface="Lato"/>
                <a:sym typeface="Lato"/>
              </a:rPr>
              <a:t>Master BWL, seit 8 Jahren im Marketing tätig</a:t>
            </a:r>
            <a:endParaRPr sz="1000">
              <a:ea typeface="Lato"/>
              <a:sym typeface="Lato"/>
            </a:endParaRPr>
          </a:p>
          <a:p>
            <a:pPr marL="457200" lvl="0" indent="-292100" algn="l" rtl="0">
              <a:spcBef>
                <a:spcPts val="0"/>
              </a:spcBef>
              <a:spcAft>
                <a:spcPts val="0"/>
              </a:spcAft>
              <a:buSzPts val="1000"/>
              <a:buFont typeface="Lato"/>
              <a:buChar char="●"/>
            </a:pPr>
            <a:r>
              <a:rPr lang="de" sz="1000">
                <a:ea typeface="Lato"/>
                <a:sym typeface="Lato"/>
              </a:rPr>
              <a:t>Hat vor 3 Jahren schonmal gegründet - das Start-Up wurde aber eingestellt</a:t>
            </a:r>
            <a:endParaRPr sz="1000">
              <a:ea typeface="Lato"/>
              <a:sym typeface="Lato"/>
            </a:endParaRPr>
          </a:p>
          <a:p>
            <a:pPr marL="457200" lvl="0" indent="-292100" algn="l" rtl="0">
              <a:spcBef>
                <a:spcPts val="0"/>
              </a:spcBef>
              <a:spcAft>
                <a:spcPts val="0"/>
              </a:spcAft>
              <a:buSzPts val="1000"/>
              <a:buFont typeface="Lato"/>
              <a:buChar char="●"/>
            </a:pPr>
            <a:r>
              <a:rPr lang="de" sz="1000">
                <a:ea typeface="Lato"/>
                <a:sym typeface="Lato"/>
              </a:rPr>
              <a:t>Arbeitet freiberuflich und plant ihre zweite Gründung</a:t>
            </a:r>
            <a:endParaRPr sz="1000">
              <a:ea typeface="Lato"/>
              <a:sym typeface="Lato"/>
            </a:endParaRPr>
          </a:p>
          <a:p>
            <a:pPr marL="457200" lvl="0" indent="-292100" algn="l" rtl="0">
              <a:spcBef>
                <a:spcPts val="0"/>
              </a:spcBef>
              <a:spcAft>
                <a:spcPts val="0"/>
              </a:spcAft>
              <a:buSzPts val="1000"/>
              <a:buFont typeface="Lato"/>
              <a:buChar char="●"/>
            </a:pPr>
            <a:r>
              <a:rPr lang="de" sz="1000">
                <a:ea typeface="Lato"/>
                <a:sym typeface="Lato"/>
              </a:rPr>
              <a:t>Braucht einen Entwickler, der ihre Ideen technisch umsetzt</a:t>
            </a:r>
            <a:endParaRPr sz="1000">
              <a:ea typeface="Lato"/>
              <a:sym typeface="Lato"/>
            </a:endParaRPr>
          </a:p>
          <a:p>
            <a:pPr marL="0" lvl="0" indent="0" algn="l" rtl="0">
              <a:spcBef>
                <a:spcPts val="0"/>
              </a:spcBef>
              <a:spcAft>
                <a:spcPts val="0"/>
              </a:spcAft>
              <a:buNone/>
            </a:pPr>
            <a:endParaRPr sz="1000">
              <a:ea typeface="Lato"/>
              <a:sym typeface="Lato"/>
            </a:endParaRPr>
          </a:p>
          <a:p>
            <a:pPr marL="0" lvl="0" indent="0" algn="l" rtl="0">
              <a:spcBef>
                <a:spcPts val="0"/>
              </a:spcBef>
              <a:spcAft>
                <a:spcPts val="0"/>
              </a:spcAft>
              <a:buNone/>
            </a:pPr>
            <a:r>
              <a:rPr lang="de" sz="1000" i="1">
                <a:ea typeface="Lato"/>
                <a:sym typeface="Lato"/>
              </a:rPr>
              <a:t>“Beim ersten Mal hab ich ewig gebraucht um die richtigen Leute zu finden — und am Ende hat's trotzdem nicht gepasst, weil wir fachlich nicht auf einer Wellenlänge waren. Diesmal will ich früh gezielt nach jemandem suchen der wirklich zu dem Projekt passt, nicht einfach irgendjemanden der gerade Zeit hat. Ich brauch jemanden der Lust hat mit aufzubauen, nicht nur Code zu schreiben.“</a:t>
            </a:r>
            <a:endParaRPr sz="1000" i="1">
              <a:ea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619350" y="5951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de"/>
              <a:t>Stakeholder-Tabelle und -Portfolio </a:t>
            </a:r>
            <a:endParaRPr/>
          </a:p>
        </p:txBody>
      </p:sp>
      <p:pic>
        <p:nvPicPr>
          <p:cNvPr id="107" name="Google Shape;107;p21"/>
          <p:cNvPicPr preferRelativeResize="0"/>
          <p:nvPr/>
        </p:nvPicPr>
        <p:blipFill>
          <a:blip r:embed="rId3">
            <a:alphaModFix/>
          </a:blip>
          <a:stretch>
            <a:fillRect/>
          </a:stretch>
        </p:blipFill>
        <p:spPr>
          <a:xfrm>
            <a:off x="2533438" y="1363050"/>
            <a:ext cx="3860525" cy="3538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graphicFrame>
        <p:nvGraphicFramePr>
          <p:cNvPr id="112" name="Google Shape;112;p22"/>
          <p:cNvGraphicFramePr/>
          <p:nvPr/>
        </p:nvGraphicFramePr>
        <p:xfrm>
          <a:off x="0" y="0"/>
          <a:ext cx="9144000" cy="4602150"/>
        </p:xfrm>
        <a:graphic>
          <a:graphicData uri="http://schemas.openxmlformats.org/drawingml/2006/table">
            <a:tbl>
              <a:tblPr>
                <a:noFill/>
                <a:tableStyleId>{DEE9F1D1-F1F4-424F-B4C9-14D242B3DB10}</a:tableStyleId>
              </a:tblPr>
              <a:tblGrid>
                <a:gridCol w="1114425">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1771650">
                  <a:extLst>
                    <a:ext uri="{9D8B030D-6E8A-4147-A177-3AD203B41FA5}">
                      <a16:colId xmlns:a16="http://schemas.microsoft.com/office/drawing/2014/main" val="20002"/>
                    </a:ext>
                  </a:extLst>
                </a:gridCol>
                <a:gridCol w="2390775">
                  <a:extLst>
                    <a:ext uri="{9D8B030D-6E8A-4147-A177-3AD203B41FA5}">
                      <a16:colId xmlns:a16="http://schemas.microsoft.com/office/drawing/2014/main" val="20003"/>
                    </a:ext>
                  </a:extLst>
                </a:gridCol>
                <a:gridCol w="1657350">
                  <a:extLst>
                    <a:ext uri="{9D8B030D-6E8A-4147-A177-3AD203B41FA5}">
                      <a16:colId xmlns:a16="http://schemas.microsoft.com/office/drawing/2014/main" val="20004"/>
                    </a:ext>
                  </a:extLst>
                </a:gridCol>
              </a:tblGrid>
              <a:tr h="0">
                <a:tc>
                  <a:txBody>
                    <a:bodyPr/>
                    <a:lstStyle/>
                    <a:p>
                      <a:pPr marL="0" lvl="0" indent="0" algn="l" rtl="0">
                        <a:spcBef>
                          <a:spcPts val="0"/>
                        </a:spcBef>
                        <a:spcAft>
                          <a:spcPts val="0"/>
                        </a:spcAft>
                        <a:buNone/>
                      </a:pPr>
                      <a:r>
                        <a:rPr lang="de" sz="1000"/>
                        <a:t>Name</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Rolle</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Wissensgebiet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Ziele und Interessen</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Moderne Aspekte</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de" sz="1000"/>
                        <a:t>Dr. Johanna von Klein</a:t>
                      </a:r>
                      <a:endParaRPr sz="1000"/>
                    </a:p>
                  </a:txBody>
                  <a:tcPr marL="91425" marR="91425" marT="91425" marB="91425">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Vizepräsidentin / Innovationszentrum NRW</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Ein erfolgreiches Projekt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Positiv gegenüber KI</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de" sz="1000"/>
                        <a:t>Dr. Kai Donnerhall</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IHK Präsident / IT-Unternehmer</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Business-Expertise</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Messbar und erfolgreiche StartUps unterstützen</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Positiv gegenüber KI</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de" sz="1000"/>
                        <a:t>Jonas Schreiter</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Student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Master Informatik</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Positiv gegenüber KI</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de" sz="1000"/>
                        <a:t>Julia Weber</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Student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Bachelor Informatik</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Verteilung ihrer StartUp-Idee</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Positiv gegenüber KI</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de" sz="1000"/>
                        <a:t>Dr. Kassoni</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Vice President / Software-Techniker HBRS</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Software-Technik und Management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Das kundenorientierte Handel</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lvl="0" indent="0" algn="l" rtl="0">
                        <a:spcBef>
                          <a:spcPts val="0"/>
                        </a:spcBef>
                        <a:spcAft>
                          <a:spcPts val="0"/>
                        </a:spcAft>
                        <a:buNone/>
                      </a:pPr>
                      <a:r>
                        <a:rPr lang="de" sz="1000"/>
                        <a:t>Björn Müller</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Usability-Experte / Software-Architekt HBRS</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Usability und Software-Architektur</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0">
                <a:tc>
                  <a:txBody>
                    <a:bodyPr/>
                    <a:lstStyle/>
                    <a:p>
                      <a:pPr marL="0" lvl="0" indent="0" algn="l" rtl="0">
                        <a:spcBef>
                          <a:spcPts val="0"/>
                        </a:spcBef>
                        <a:spcAft>
                          <a:spcPts val="0"/>
                        </a:spcAft>
                        <a:buNone/>
                      </a:pPr>
                      <a:r>
                        <a:rPr lang="de" sz="1000"/>
                        <a:t>Dr. Meyer-Sedal</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Externe Unternehmensberater</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Business-Requirements</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0">
                <a:tc>
                  <a:txBody>
                    <a:bodyPr/>
                    <a:lstStyle/>
                    <a:p>
                      <a:pPr marL="0" lvl="0" indent="0" algn="l" rtl="0">
                        <a:spcBef>
                          <a:spcPts val="0"/>
                        </a:spcBef>
                        <a:spcAft>
                          <a:spcPts val="0"/>
                        </a:spcAft>
                        <a:buNone/>
                      </a:pPr>
                      <a:r>
                        <a:rPr lang="de" sz="1000"/>
                        <a:t>Hr. Wuschel</a:t>
                      </a:r>
                      <a:endParaRPr sz="1000"/>
                    </a:p>
                  </a:txBody>
                  <a:tcPr marL="91425" marR="91425" marT="91425" marB="91425">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Wiss. Mitarbeiter HBRS</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Sieht StartUps als Störung in der Forschung an</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Negativ gegenüber KI</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0">
                <a:tc>
                  <a:txBody>
                    <a:bodyPr/>
                    <a:lstStyle/>
                    <a:p>
                      <a:pPr marL="0" lvl="0" indent="0" algn="l" rtl="0">
                        <a:spcBef>
                          <a:spcPts val="0"/>
                        </a:spcBef>
                        <a:spcAft>
                          <a:spcPts val="0"/>
                        </a:spcAft>
                        <a:buNone/>
                      </a:pPr>
                      <a:r>
                        <a:rPr lang="de" sz="1000"/>
                        <a:t>Hr. Öztürk</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DB-Admin HBRS</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Datenbanken-Expertise</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Keine Interesse</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KI ist gut, aber nichts für eine DB</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0">
                <a:tc>
                  <a:txBody>
                    <a:bodyPr/>
                    <a:lstStyle/>
                    <a:p>
                      <a:pPr marL="0" lvl="0" indent="0" algn="l" rtl="0">
                        <a:spcBef>
                          <a:spcPts val="0"/>
                        </a:spcBef>
                        <a:spcAft>
                          <a:spcPts val="0"/>
                        </a:spcAft>
                        <a:buNone/>
                      </a:pPr>
                      <a:r>
                        <a:rPr lang="de" sz="1000"/>
                        <a:t>Hr. Seppels</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System-Admin HBRS</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SEPP und KI-Support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Ein erfolgreiches Projekt</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de" sz="1000"/>
                        <a:t>Positiv gegenüber KI</a:t>
                      </a:r>
                      <a:endParaRPr sz="1000"/>
                    </a:p>
                  </a:txBody>
                  <a:tcPr marL="91425" marR="91425" marT="91425" marB="91425">
                    <a:lnL w="7625" cap="flat" cmpd="sng">
                      <a:solidFill>
                        <a:srgbClr val="000000"/>
                      </a:solidFill>
                      <a:prstDash val="solid"/>
                      <a:round/>
                      <a:headEnd type="none" w="sm" len="sm"/>
                      <a:tailEnd type="none" w="sm" len="sm"/>
                    </a:lnL>
                    <a:lnR w="7625" cap="flat" cmpd="sng">
                      <a:solidFill>
                        <a:srgbClr val="000000"/>
                      </a:solidFill>
                      <a:prstDash val="solid"/>
                      <a:round/>
                      <a:headEnd type="none" w="sm" len="sm"/>
                      <a:tailEnd type="none" w="sm" len="sm"/>
                    </a:lnR>
                    <a:lnT w="7625" cap="flat" cmpd="sng">
                      <a:solidFill>
                        <a:srgbClr val="000000"/>
                      </a:solidFill>
                      <a:prstDash val="solid"/>
                      <a:round/>
                      <a:headEnd type="none" w="sm" len="sm"/>
                      <a:tailEnd type="none" w="sm" len="sm"/>
                    </a:lnT>
                    <a:lnB w="76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3"/>
          <p:cNvSpPr txBox="1">
            <a:spLocks noGrp="1"/>
          </p:cNvSpPr>
          <p:nvPr>
            <p:ph type="title"/>
          </p:nvPr>
        </p:nvSpPr>
        <p:spPr>
          <a:xfrm>
            <a:off x="729450" y="6927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de"/>
              <a:t>UML Paketdiagramm</a:t>
            </a:r>
            <a:endParaRPr/>
          </a:p>
        </p:txBody>
      </p:sp>
      <p:sp>
        <p:nvSpPr>
          <p:cNvPr id="118" name="Google Shape;118;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19" name="Google Shape;119;p23" title="PaketdiagrammSt@rtMeUp.drawio.png"/>
          <p:cNvPicPr preferRelativeResize="0"/>
          <p:nvPr/>
        </p:nvPicPr>
        <p:blipFill>
          <a:blip r:embed="rId3">
            <a:alphaModFix/>
          </a:blip>
          <a:stretch>
            <a:fillRect/>
          </a:stretch>
        </p:blipFill>
        <p:spPr>
          <a:xfrm>
            <a:off x="665950" y="1290138"/>
            <a:ext cx="3974499" cy="3838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de"/>
              <a:t>Mock-Up</a:t>
            </a:r>
            <a:endParaRPr/>
          </a:p>
        </p:txBody>
      </p:sp>
      <p:sp>
        <p:nvSpPr>
          <p:cNvPr id="125" name="Google Shape;125;p2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5"/>
          <p:cNvPicPr preferRelativeResize="0"/>
          <p:nvPr/>
        </p:nvPicPr>
        <p:blipFill>
          <a:blip r:embed="rId3">
            <a:alphaModFix/>
          </a:blip>
          <a:stretch>
            <a:fillRect/>
          </a:stretch>
        </p:blipFill>
        <p:spPr>
          <a:xfrm>
            <a:off x="719900" y="152400"/>
            <a:ext cx="7704197" cy="4838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26"/>
          <p:cNvPicPr preferRelativeResize="0"/>
          <p:nvPr/>
        </p:nvPicPr>
        <p:blipFill rotWithShape="1">
          <a:blip r:embed="rId3">
            <a:alphaModFix/>
          </a:blip>
          <a:srcRect/>
          <a:stretch/>
        </p:blipFill>
        <p:spPr>
          <a:xfrm>
            <a:off x="709015" y="152400"/>
            <a:ext cx="7725960" cy="4838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7"/>
          <p:cNvPicPr preferRelativeResize="0"/>
          <p:nvPr/>
        </p:nvPicPr>
        <p:blipFill>
          <a:blip r:embed="rId3">
            <a:alphaModFix/>
          </a:blip>
          <a:stretch>
            <a:fillRect/>
          </a:stretch>
        </p:blipFill>
        <p:spPr>
          <a:xfrm>
            <a:off x="709025" y="152400"/>
            <a:ext cx="7725960" cy="4838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8"/>
          <p:cNvSpPr txBox="1">
            <a:spLocks noGrp="1"/>
          </p:cNvSpPr>
          <p:nvPr>
            <p:ph type="title"/>
          </p:nvPr>
        </p:nvSpPr>
        <p:spPr>
          <a:xfrm>
            <a:off x="729450" y="640125"/>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de" sz="2740">
                <a:ea typeface="Lato"/>
                <a:sym typeface="Lato"/>
              </a:rPr>
              <a:t>Szenario 1: Student </a:t>
            </a:r>
            <a:endParaRPr sz="2740">
              <a:ea typeface="Lato"/>
              <a:sym typeface="Lato"/>
            </a:endParaRPr>
          </a:p>
        </p:txBody>
      </p:sp>
      <p:sp>
        <p:nvSpPr>
          <p:cNvPr id="146" name="Google Shape;146;p28"/>
          <p:cNvSpPr/>
          <p:nvPr/>
        </p:nvSpPr>
        <p:spPr>
          <a:xfrm>
            <a:off x="1320356" y="1350920"/>
            <a:ext cx="356100" cy="351600"/>
          </a:xfrm>
          <a:prstGeom prst="ellipse">
            <a:avLst/>
          </a:prstGeom>
          <a:solidFill>
            <a:srgbClr val="2B6CB0"/>
          </a:solidFill>
          <a:ln w="12700"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a typeface="Lato"/>
              <a:sym typeface="Lato"/>
            </a:endParaRPr>
          </a:p>
        </p:txBody>
      </p:sp>
      <p:sp>
        <p:nvSpPr>
          <p:cNvPr id="147" name="Google Shape;147;p28"/>
          <p:cNvSpPr/>
          <p:nvPr/>
        </p:nvSpPr>
        <p:spPr>
          <a:xfrm>
            <a:off x="1278922" y="1417134"/>
            <a:ext cx="4389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de" sz="1400" b="1" i="0" u="none" strike="noStrike" cap="none">
                <a:solidFill>
                  <a:srgbClr val="FFFFFF"/>
                </a:solidFill>
                <a:ea typeface="Lato"/>
                <a:sym typeface="Lato"/>
              </a:rPr>
              <a:t>1</a:t>
            </a:r>
            <a:endParaRPr sz="1400" i="0" u="none" strike="noStrike" cap="none">
              <a:solidFill>
                <a:srgbClr val="000000"/>
              </a:solidFill>
              <a:ea typeface="Lato"/>
              <a:sym typeface="Lato"/>
            </a:endParaRPr>
          </a:p>
        </p:txBody>
      </p:sp>
      <p:sp>
        <p:nvSpPr>
          <p:cNvPr id="148" name="Google Shape;148;p28"/>
          <p:cNvSpPr/>
          <p:nvPr/>
        </p:nvSpPr>
        <p:spPr>
          <a:xfrm>
            <a:off x="1923860" y="1315430"/>
            <a:ext cx="5114400" cy="22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50"/>
              <a:buFont typeface="Arial"/>
              <a:buNone/>
            </a:pPr>
            <a:r>
              <a:rPr lang="de" sz="1650" b="1" i="0" u="none" strike="noStrike" cap="none">
                <a:solidFill>
                  <a:srgbClr val="17324D"/>
                </a:solidFill>
                <a:ea typeface="Lato"/>
                <a:sym typeface="Lato"/>
              </a:rPr>
              <a:t>Registrierung &amp; Profil</a:t>
            </a:r>
            <a:endParaRPr sz="1650" i="0" u="none" strike="noStrike" cap="none">
              <a:solidFill>
                <a:srgbClr val="000000"/>
              </a:solidFill>
              <a:ea typeface="Lato"/>
              <a:sym typeface="Lato"/>
            </a:endParaRPr>
          </a:p>
        </p:txBody>
      </p:sp>
      <p:sp>
        <p:nvSpPr>
          <p:cNvPr id="149" name="Google Shape;149;p28"/>
          <p:cNvSpPr/>
          <p:nvPr/>
        </p:nvSpPr>
        <p:spPr>
          <a:xfrm>
            <a:off x="1923860" y="1542561"/>
            <a:ext cx="5534100" cy="30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de" sz="1200" i="0" u="none" strike="noStrike" cap="none">
                <a:solidFill>
                  <a:srgbClr val="516173"/>
                </a:solidFill>
                <a:ea typeface="Lato"/>
                <a:sym typeface="Lato"/>
              </a:rPr>
              <a:t>Persönliche Daten, Studiengang, Semester, Skills, Lebenslauf, Projekte erfassen</a:t>
            </a:r>
            <a:endParaRPr sz="1200" i="0" u="none" strike="noStrike" cap="none">
              <a:solidFill>
                <a:srgbClr val="000000"/>
              </a:solidFill>
              <a:ea typeface="Lato"/>
              <a:sym typeface="Lato"/>
            </a:endParaRPr>
          </a:p>
        </p:txBody>
      </p:sp>
      <p:sp>
        <p:nvSpPr>
          <p:cNvPr id="150" name="Google Shape;150;p28"/>
          <p:cNvSpPr/>
          <p:nvPr/>
        </p:nvSpPr>
        <p:spPr>
          <a:xfrm>
            <a:off x="1320356" y="1914209"/>
            <a:ext cx="356100" cy="351600"/>
          </a:xfrm>
          <a:prstGeom prst="ellipse">
            <a:avLst/>
          </a:prstGeom>
          <a:solidFill>
            <a:srgbClr val="2B6CB0"/>
          </a:solidFill>
          <a:ln w="12700"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a typeface="Lato"/>
              <a:sym typeface="Lato"/>
            </a:endParaRPr>
          </a:p>
        </p:txBody>
      </p:sp>
      <p:sp>
        <p:nvSpPr>
          <p:cNvPr id="151" name="Google Shape;151;p28"/>
          <p:cNvSpPr/>
          <p:nvPr/>
        </p:nvSpPr>
        <p:spPr>
          <a:xfrm>
            <a:off x="1278922" y="2005764"/>
            <a:ext cx="4389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de" sz="1400" b="1" i="0" u="none" strike="noStrike" cap="none">
                <a:solidFill>
                  <a:srgbClr val="FFFFFF"/>
                </a:solidFill>
                <a:ea typeface="Lato"/>
                <a:sym typeface="Lato"/>
              </a:rPr>
              <a:t>2</a:t>
            </a:r>
            <a:endParaRPr sz="1400" i="0" u="none" strike="noStrike" cap="none">
              <a:solidFill>
                <a:srgbClr val="000000"/>
              </a:solidFill>
              <a:ea typeface="Lato"/>
              <a:sym typeface="Lato"/>
            </a:endParaRPr>
          </a:p>
        </p:txBody>
      </p:sp>
      <p:sp>
        <p:nvSpPr>
          <p:cNvPr id="152" name="Google Shape;152;p28"/>
          <p:cNvSpPr/>
          <p:nvPr/>
        </p:nvSpPr>
        <p:spPr>
          <a:xfrm>
            <a:off x="1923860" y="1895921"/>
            <a:ext cx="5114400" cy="22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50"/>
              <a:buFont typeface="Arial"/>
              <a:buNone/>
            </a:pPr>
            <a:r>
              <a:rPr lang="de" sz="1650" b="1" i="0" u="none" strike="noStrike" cap="none">
                <a:solidFill>
                  <a:srgbClr val="17324D"/>
                </a:solidFill>
                <a:ea typeface="Lato"/>
                <a:sym typeface="Lato"/>
              </a:rPr>
              <a:t>Matching oder aktive Suche</a:t>
            </a:r>
            <a:endParaRPr sz="1650" i="0" u="none" strike="noStrike" cap="none">
              <a:solidFill>
                <a:srgbClr val="000000"/>
              </a:solidFill>
              <a:ea typeface="Lato"/>
              <a:sym typeface="Lato"/>
            </a:endParaRPr>
          </a:p>
        </p:txBody>
      </p:sp>
      <p:sp>
        <p:nvSpPr>
          <p:cNvPr id="153" name="Google Shape;153;p28"/>
          <p:cNvSpPr/>
          <p:nvPr/>
        </p:nvSpPr>
        <p:spPr>
          <a:xfrm>
            <a:off x="1923860" y="2170241"/>
            <a:ext cx="5534100" cy="36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de" sz="1200" i="0" u="none" strike="noStrike" cap="none">
                <a:solidFill>
                  <a:srgbClr val="516173"/>
                </a:solidFill>
                <a:ea typeface="Lato"/>
                <a:sym typeface="Lato"/>
              </a:rPr>
              <a:t>Personalisierte Startup-Vorschläge erhalten oder nach Branche, Skills und Standort filtern.</a:t>
            </a:r>
            <a:endParaRPr sz="1200" i="0" u="none" strike="noStrike" cap="none">
              <a:solidFill>
                <a:srgbClr val="000000"/>
              </a:solidFill>
              <a:ea typeface="Lato"/>
              <a:sym typeface="Lato"/>
            </a:endParaRPr>
          </a:p>
        </p:txBody>
      </p:sp>
      <p:sp>
        <p:nvSpPr>
          <p:cNvPr id="154" name="Google Shape;154;p28"/>
          <p:cNvSpPr/>
          <p:nvPr/>
        </p:nvSpPr>
        <p:spPr>
          <a:xfrm>
            <a:off x="1320356" y="2597873"/>
            <a:ext cx="356100" cy="351600"/>
          </a:xfrm>
          <a:prstGeom prst="ellipse">
            <a:avLst/>
          </a:prstGeom>
          <a:solidFill>
            <a:srgbClr val="2B6CB0"/>
          </a:solidFill>
          <a:ln w="12700"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a typeface="Lato"/>
              <a:sym typeface="Lato"/>
            </a:endParaRPr>
          </a:p>
        </p:txBody>
      </p:sp>
      <p:sp>
        <p:nvSpPr>
          <p:cNvPr id="155" name="Google Shape;155;p28"/>
          <p:cNvSpPr/>
          <p:nvPr/>
        </p:nvSpPr>
        <p:spPr>
          <a:xfrm>
            <a:off x="1278922" y="2689313"/>
            <a:ext cx="4389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de" sz="1400" b="1" i="0" u="none" strike="noStrike" cap="none">
                <a:solidFill>
                  <a:srgbClr val="FFFFFF"/>
                </a:solidFill>
                <a:ea typeface="Lato"/>
                <a:sym typeface="Lato"/>
              </a:rPr>
              <a:t>3</a:t>
            </a:r>
            <a:endParaRPr sz="1400" i="0" u="none" strike="noStrike" cap="none">
              <a:solidFill>
                <a:srgbClr val="000000"/>
              </a:solidFill>
              <a:ea typeface="Lato"/>
              <a:sym typeface="Lato"/>
            </a:endParaRPr>
          </a:p>
        </p:txBody>
      </p:sp>
      <p:sp>
        <p:nvSpPr>
          <p:cNvPr id="156" name="Google Shape;156;p28"/>
          <p:cNvSpPr/>
          <p:nvPr/>
        </p:nvSpPr>
        <p:spPr>
          <a:xfrm>
            <a:off x="1923860" y="2579585"/>
            <a:ext cx="5114400" cy="22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50"/>
              <a:buFont typeface="Arial"/>
              <a:buNone/>
            </a:pPr>
            <a:r>
              <a:rPr lang="de" sz="1650" b="1" i="0" u="none" strike="noStrike" cap="none">
                <a:solidFill>
                  <a:srgbClr val="17324D"/>
                </a:solidFill>
                <a:ea typeface="Lato"/>
                <a:sym typeface="Lato"/>
              </a:rPr>
              <a:t>Startup-Profil prüfen</a:t>
            </a:r>
            <a:endParaRPr sz="1650" i="0" u="none" strike="noStrike" cap="none">
              <a:solidFill>
                <a:srgbClr val="000000"/>
              </a:solidFill>
              <a:ea typeface="Lato"/>
              <a:sym typeface="Lato"/>
            </a:endParaRPr>
          </a:p>
        </p:txBody>
      </p:sp>
      <p:sp>
        <p:nvSpPr>
          <p:cNvPr id="157" name="Google Shape;157;p28"/>
          <p:cNvSpPr/>
          <p:nvPr/>
        </p:nvSpPr>
        <p:spPr>
          <a:xfrm>
            <a:off x="1923860" y="2852038"/>
            <a:ext cx="5534100" cy="299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de" sz="1200" i="0" u="none" strike="noStrike" cap="none">
                <a:solidFill>
                  <a:srgbClr val="516173"/>
                </a:solidFill>
                <a:ea typeface="Lato"/>
                <a:sym typeface="Lato"/>
              </a:rPr>
              <a:t>Vision und Jobangebote inklusive Anforderungen ansehen.</a:t>
            </a:r>
            <a:endParaRPr sz="1200" i="0" u="none" strike="noStrike" cap="none">
              <a:solidFill>
                <a:srgbClr val="000000"/>
              </a:solidFill>
              <a:ea typeface="Lato"/>
              <a:sym typeface="Lato"/>
            </a:endParaRPr>
          </a:p>
        </p:txBody>
      </p:sp>
      <p:sp>
        <p:nvSpPr>
          <p:cNvPr id="158" name="Google Shape;158;p28"/>
          <p:cNvSpPr/>
          <p:nvPr/>
        </p:nvSpPr>
        <p:spPr>
          <a:xfrm>
            <a:off x="1320356" y="3241172"/>
            <a:ext cx="356100" cy="351600"/>
          </a:xfrm>
          <a:prstGeom prst="ellipse">
            <a:avLst/>
          </a:prstGeom>
          <a:solidFill>
            <a:srgbClr val="2B6CB0"/>
          </a:solidFill>
          <a:ln w="12700"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a typeface="Lato"/>
              <a:sym typeface="Lato"/>
            </a:endParaRPr>
          </a:p>
        </p:txBody>
      </p:sp>
      <p:sp>
        <p:nvSpPr>
          <p:cNvPr id="159" name="Google Shape;159;p28"/>
          <p:cNvSpPr/>
          <p:nvPr/>
        </p:nvSpPr>
        <p:spPr>
          <a:xfrm>
            <a:off x="1278922" y="3323196"/>
            <a:ext cx="4389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de" sz="1400" b="1" i="0" u="none" strike="noStrike" cap="none">
                <a:solidFill>
                  <a:srgbClr val="FFFFFF"/>
                </a:solidFill>
                <a:ea typeface="Lato"/>
                <a:sym typeface="Lato"/>
              </a:rPr>
              <a:t>4</a:t>
            </a:r>
            <a:endParaRPr sz="1400" i="0" u="none" strike="noStrike" cap="none">
              <a:solidFill>
                <a:srgbClr val="000000"/>
              </a:solidFill>
              <a:ea typeface="Lato"/>
              <a:sym typeface="Lato"/>
            </a:endParaRPr>
          </a:p>
        </p:txBody>
      </p:sp>
      <p:sp>
        <p:nvSpPr>
          <p:cNvPr id="160" name="Google Shape;160;p28"/>
          <p:cNvSpPr/>
          <p:nvPr/>
        </p:nvSpPr>
        <p:spPr>
          <a:xfrm>
            <a:off x="1923860" y="3222884"/>
            <a:ext cx="5114400" cy="22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50"/>
              <a:buFont typeface="Arial"/>
              <a:buNone/>
            </a:pPr>
            <a:r>
              <a:rPr lang="de" sz="1650" b="1" i="0" u="none" strike="noStrike" cap="none">
                <a:solidFill>
                  <a:srgbClr val="17324D"/>
                </a:solidFill>
                <a:ea typeface="Lato"/>
                <a:sym typeface="Lato"/>
              </a:rPr>
              <a:t>Bewerbung senden</a:t>
            </a:r>
            <a:endParaRPr sz="1650" i="0" u="none" strike="noStrike" cap="none">
              <a:solidFill>
                <a:srgbClr val="000000"/>
              </a:solidFill>
              <a:ea typeface="Lato"/>
              <a:sym typeface="Lato"/>
            </a:endParaRPr>
          </a:p>
        </p:txBody>
      </p:sp>
      <p:sp>
        <p:nvSpPr>
          <p:cNvPr id="161" name="Google Shape;161;p28"/>
          <p:cNvSpPr/>
          <p:nvPr/>
        </p:nvSpPr>
        <p:spPr>
          <a:xfrm>
            <a:off x="1923860" y="3501954"/>
            <a:ext cx="5534100" cy="315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de" sz="1200" i="0" u="none" strike="noStrike" cap="none">
                <a:solidFill>
                  <a:srgbClr val="516173"/>
                </a:solidFill>
                <a:ea typeface="Lato"/>
                <a:sym typeface="Lato"/>
              </a:rPr>
              <a:t>Bewerbung mit Motivationsschreiben und Skills abschicken.</a:t>
            </a:r>
            <a:endParaRPr sz="1270" i="0" u="none" strike="noStrike" cap="none">
              <a:solidFill>
                <a:srgbClr val="000000"/>
              </a:solidFill>
              <a:ea typeface="Lato"/>
              <a:sym typeface="Lato"/>
            </a:endParaRPr>
          </a:p>
        </p:txBody>
      </p:sp>
      <p:sp>
        <p:nvSpPr>
          <p:cNvPr id="162" name="Google Shape;162;p28"/>
          <p:cNvSpPr/>
          <p:nvPr/>
        </p:nvSpPr>
        <p:spPr>
          <a:xfrm>
            <a:off x="1320356" y="3865298"/>
            <a:ext cx="356100" cy="351600"/>
          </a:xfrm>
          <a:prstGeom prst="ellipse">
            <a:avLst/>
          </a:prstGeom>
          <a:solidFill>
            <a:srgbClr val="2B6CB0"/>
          </a:solidFill>
          <a:ln w="12700"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a typeface="Lato"/>
              <a:sym typeface="Lato"/>
            </a:endParaRPr>
          </a:p>
        </p:txBody>
      </p:sp>
      <p:sp>
        <p:nvSpPr>
          <p:cNvPr id="163" name="Google Shape;163;p28"/>
          <p:cNvSpPr/>
          <p:nvPr/>
        </p:nvSpPr>
        <p:spPr>
          <a:xfrm>
            <a:off x="1278922" y="3949594"/>
            <a:ext cx="4389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de" sz="1400" b="1" i="0" u="none" strike="noStrike" cap="none">
                <a:solidFill>
                  <a:srgbClr val="FFFFFF"/>
                </a:solidFill>
                <a:ea typeface="Lato"/>
                <a:sym typeface="Lato"/>
              </a:rPr>
              <a:t>5</a:t>
            </a:r>
            <a:endParaRPr sz="1400" i="0" u="none" strike="noStrike" cap="none">
              <a:solidFill>
                <a:srgbClr val="000000"/>
              </a:solidFill>
              <a:ea typeface="Lato"/>
              <a:sym typeface="Lato"/>
            </a:endParaRPr>
          </a:p>
        </p:txBody>
      </p:sp>
      <p:sp>
        <p:nvSpPr>
          <p:cNvPr id="164" name="Google Shape;164;p28"/>
          <p:cNvSpPr/>
          <p:nvPr/>
        </p:nvSpPr>
        <p:spPr>
          <a:xfrm>
            <a:off x="1923860" y="3847010"/>
            <a:ext cx="5114400" cy="22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50"/>
              <a:buFont typeface="Arial"/>
              <a:buNone/>
            </a:pPr>
            <a:r>
              <a:rPr lang="de" sz="1650" b="1" i="0" u="none" strike="noStrike" cap="none">
                <a:solidFill>
                  <a:srgbClr val="17324D"/>
                </a:solidFill>
                <a:ea typeface="Lato"/>
                <a:sym typeface="Lato"/>
              </a:rPr>
              <a:t>Status verfolgen</a:t>
            </a:r>
            <a:endParaRPr sz="1650" i="0" u="none" strike="noStrike" cap="none">
              <a:solidFill>
                <a:srgbClr val="000000"/>
              </a:solidFill>
              <a:ea typeface="Lato"/>
              <a:sym typeface="Lato"/>
            </a:endParaRPr>
          </a:p>
        </p:txBody>
      </p:sp>
      <p:sp>
        <p:nvSpPr>
          <p:cNvPr id="165" name="Google Shape;165;p28"/>
          <p:cNvSpPr/>
          <p:nvPr/>
        </p:nvSpPr>
        <p:spPr>
          <a:xfrm>
            <a:off x="1923860" y="4120022"/>
            <a:ext cx="5534100" cy="36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de" sz="1200" i="0" u="none" strike="noStrike" cap="none">
                <a:solidFill>
                  <a:srgbClr val="516173"/>
                </a:solidFill>
                <a:ea typeface="Lato"/>
                <a:sym typeface="Lato"/>
              </a:rPr>
              <a:t>Dashboard zeigt Status wie „eingegangen“, „in Prüfung“, „angenommen“ oder „abgelehnt“ inkl. Benachrichtigung.</a:t>
            </a:r>
            <a:endParaRPr sz="1200" i="0" u="none" strike="noStrike" cap="none">
              <a:solidFill>
                <a:srgbClr val="000000"/>
              </a:solidFill>
              <a:ea typeface="Lato"/>
              <a:sym typeface="Lato"/>
            </a:endParaRPr>
          </a:p>
        </p:txBody>
      </p:sp>
      <p:sp>
        <p:nvSpPr>
          <p:cNvPr id="166" name="Google Shape;166;p28"/>
          <p:cNvSpPr/>
          <p:nvPr/>
        </p:nvSpPr>
        <p:spPr>
          <a:xfrm>
            <a:off x="1320356" y="4551095"/>
            <a:ext cx="356100" cy="351600"/>
          </a:xfrm>
          <a:prstGeom prst="ellipse">
            <a:avLst/>
          </a:prstGeom>
          <a:solidFill>
            <a:srgbClr val="00A6A6"/>
          </a:solidFill>
          <a:ln w="12700" cap="flat" cmpd="sng">
            <a:solidFill>
              <a:srgbClr val="00A6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a typeface="Lato"/>
              <a:sym typeface="Lato"/>
            </a:endParaRPr>
          </a:p>
        </p:txBody>
      </p:sp>
      <p:sp>
        <p:nvSpPr>
          <p:cNvPr id="167" name="Google Shape;167;p28"/>
          <p:cNvSpPr/>
          <p:nvPr/>
        </p:nvSpPr>
        <p:spPr>
          <a:xfrm>
            <a:off x="1278922" y="4635391"/>
            <a:ext cx="4389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de" sz="1400" b="1" i="0" u="none" strike="noStrike" cap="none">
                <a:solidFill>
                  <a:srgbClr val="FFFFFF"/>
                </a:solidFill>
                <a:ea typeface="Lato"/>
                <a:sym typeface="Lato"/>
              </a:rPr>
              <a:t>6</a:t>
            </a:r>
            <a:endParaRPr sz="1400" i="0" u="none" strike="noStrike" cap="none">
              <a:solidFill>
                <a:srgbClr val="000000"/>
              </a:solidFill>
              <a:ea typeface="Lato"/>
              <a:sym typeface="Lato"/>
            </a:endParaRPr>
          </a:p>
        </p:txBody>
      </p:sp>
      <p:sp>
        <p:nvSpPr>
          <p:cNvPr id="168" name="Google Shape;168;p28"/>
          <p:cNvSpPr/>
          <p:nvPr/>
        </p:nvSpPr>
        <p:spPr>
          <a:xfrm>
            <a:off x="1923860" y="4532807"/>
            <a:ext cx="5114400" cy="22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50"/>
              <a:buFont typeface="Arial"/>
              <a:buNone/>
            </a:pPr>
            <a:r>
              <a:rPr lang="de" sz="1650" b="1" i="1" u="none" strike="noStrike" cap="none">
                <a:solidFill>
                  <a:srgbClr val="17324D"/>
                </a:solidFill>
                <a:ea typeface="Lato"/>
                <a:sym typeface="Lato"/>
              </a:rPr>
              <a:t>Kommunikation starten</a:t>
            </a:r>
            <a:endParaRPr sz="1650" i="1" u="none" strike="noStrike" cap="none">
              <a:solidFill>
                <a:srgbClr val="000000"/>
              </a:solidFill>
              <a:ea typeface="Lato"/>
              <a:sym typeface="Lato"/>
            </a:endParaRPr>
          </a:p>
        </p:txBody>
      </p:sp>
      <p:sp>
        <p:nvSpPr>
          <p:cNvPr id="169" name="Google Shape;169;p28"/>
          <p:cNvSpPr/>
          <p:nvPr/>
        </p:nvSpPr>
        <p:spPr>
          <a:xfrm>
            <a:off x="1923860" y="4716259"/>
            <a:ext cx="5534100" cy="36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de" sz="1100" i="1" u="none" strike="noStrike" cap="none">
                <a:solidFill>
                  <a:srgbClr val="516173"/>
                </a:solidFill>
                <a:ea typeface="Lato"/>
                <a:sym typeface="Lato"/>
              </a:rPr>
              <a:t>Bei Annahme per Chat die Details klären und ggf. Interview vereinbaren.</a:t>
            </a:r>
            <a:endParaRPr sz="1100" i="1" u="none" strike="noStrike" cap="none">
              <a:solidFill>
                <a:srgbClr val="000000"/>
              </a:solidFill>
              <a:ea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9"/>
          <p:cNvSpPr txBox="1">
            <a:spLocks noGrp="1"/>
          </p:cNvSpPr>
          <p:nvPr>
            <p:ph type="title"/>
          </p:nvPr>
        </p:nvSpPr>
        <p:spPr>
          <a:xfrm>
            <a:off x="729450" y="640125"/>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de" sz="2740">
                <a:ea typeface="Lato"/>
                <a:sym typeface="Lato"/>
              </a:rPr>
              <a:t>Szenario 2: Start-Up</a:t>
            </a:r>
            <a:endParaRPr sz="2740">
              <a:ea typeface="Lato"/>
              <a:sym typeface="Lato"/>
            </a:endParaRPr>
          </a:p>
        </p:txBody>
      </p:sp>
      <p:sp>
        <p:nvSpPr>
          <p:cNvPr id="175" name="Google Shape;175;p29"/>
          <p:cNvSpPr/>
          <p:nvPr/>
        </p:nvSpPr>
        <p:spPr>
          <a:xfrm>
            <a:off x="1320356" y="1350920"/>
            <a:ext cx="356100" cy="351600"/>
          </a:xfrm>
          <a:prstGeom prst="ellipse">
            <a:avLst/>
          </a:prstGeom>
          <a:solidFill>
            <a:srgbClr val="2B6CB0"/>
          </a:solidFill>
          <a:ln w="12700"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a typeface="Lato"/>
              <a:sym typeface="Lato"/>
            </a:endParaRPr>
          </a:p>
        </p:txBody>
      </p:sp>
      <p:sp>
        <p:nvSpPr>
          <p:cNvPr id="176" name="Google Shape;176;p29"/>
          <p:cNvSpPr/>
          <p:nvPr/>
        </p:nvSpPr>
        <p:spPr>
          <a:xfrm>
            <a:off x="1278922" y="1417134"/>
            <a:ext cx="4389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de" sz="1400" b="1" i="0" u="none" strike="noStrike" cap="none">
                <a:solidFill>
                  <a:srgbClr val="FFFFFF"/>
                </a:solidFill>
                <a:ea typeface="Lato"/>
                <a:sym typeface="Lato"/>
              </a:rPr>
              <a:t>1</a:t>
            </a:r>
            <a:endParaRPr sz="1400" i="0" u="none" strike="noStrike" cap="none">
              <a:solidFill>
                <a:srgbClr val="000000"/>
              </a:solidFill>
              <a:ea typeface="Lato"/>
              <a:sym typeface="Lato"/>
            </a:endParaRPr>
          </a:p>
        </p:txBody>
      </p:sp>
      <p:sp>
        <p:nvSpPr>
          <p:cNvPr id="177" name="Google Shape;177;p29"/>
          <p:cNvSpPr/>
          <p:nvPr/>
        </p:nvSpPr>
        <p:spPr>
          <a:xfrm>
            <a:off x="1923860" y="1315430"/>
            <a:ext cx="5114400" cy="22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50"/>
              <a:buFont typeface="Arial"/>
              <a:buNone/>
            </a:pPr>
            <a:r>
              <a:rPr lang="de" sz="1650" b="1" i="0" u="none" strike="noStrike" cap="none">
                <a:solidFill>
                  <a:srgbClr val="17324D"/>
                </a:solidFill>
                <a:ea typeface="Lato"/>
                <a:sym typeface="Lato"/>
              </a:rPr>
              <a:t>Registrierung &amp; Unternehmensprofil</a:t>
            </a:r>
            <a:endParaRPr sz="1650" i="0" u="none" strike="noStrike" cap="none">
              <a:solidFill>
                <a:srgbClr val="000000"/>
              </a:solidFill>
              <a:ea typeface="Lato"/>
              <a:sym typeface="Lato"/>
            </a:endParaRPr>
          </a:p>
        </p:txBody>
      </p:sp>
      <p:sp>
        <p:nvSpPr>
          <p:cNvPr id="178" name="Google Shape;178;p29"/>
          <p:cNvSpPr/>
          <p:nvPr/>
        </p:nvSpPr>
        <p:spPr>
          <a:xfrm>
            <a:off x="1923860" y="1542561"/>
            <a:ext cx="5534100" cy="308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10"/>
              <a:buFont typeface="Arial"/>
              <a:buNone/>
            </a:pPr>
            <a:r>
              <a:rPr lang="de" sz="1110" i="0" u="none" strike="noStrike" cap="none">
                <a:solidFill>
                  <a:srgbClr val="516173"/>
                </a:solidFill>
                <a:ea typeface="Lato"/>
                <a:sym typeface="Lato"/>
              </a:rPr>
              <a:t>Unternehmensname, Branche, Standort, Teamgröße und Entwicklungsphase anlegen.</a:t>
            </a:r>
            <a:endParaRPr sz="1110" i="0" u="none" strike="noStrike" cap="none">
              <a:solidFill>
                <a:srgbClr val="000000"/>
              </a:solidFill>
              <a:ea typeface="Lato"/>
              <a:sym typeface="Lato"/>
            </a:endParaRPr>
          </a:p>
        </p:txBody>
      </p:sp>
      <p:sp>
        <p:nvSpPr>
          <p:cNvPr id="179" name="Google Shape;179;p29"/>
          <p:cNvSpPr/>
          <p:nvPr/>
        </p:nvSpPr>
        <p:spPr>
          <a:xfrm>
            <a:off x="1320356" y="1914209"/>
            <a:ext cx="356100" cy="351600"/>
          </a:xfrm>
          <a:prstGeom prst="ellipse">
            <a:avLst/>
          </a:prstGeom>
          <a:solidFill>
            <a:srgbClr val="2B6CB0"/>
          </a:solidFill>
          <a:ln w="12700"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a typeface="Lato"/>
              <a:sym typeface="Lato"/>
            </a:endParaRPr>
          </a:p>
        </p:txBody>
      </p:sp>
      <p:sp>
        <p:nvSpPr>
          <p:cNvPr id="180" name="Google Shape;180;p29"/>
          <p:cNvSpPr/>
          <p:nvPr/>
        </p:nvSpPr>
        <p:spPr>
          <a:xfrm>
            <a:off x="1278922" y="2005764"/>
            <a:ext cx="4389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de" sz="1400" b="1" i="0" u="none" strike="noStrike" cap="none">
                <a:solidFill>
                  <a:srgbClr val="FFFFFF"/>
                </a:solidFill>
                <a:ea typeface="Lato"/>
                <a:sym typeface="Lato"/>
              </a:rPr>
              <a:t>2</a:t>
            </a:r>
            <a:endParaRPr sz="1400" i="0" u="none" strike="noStrike" cap="none">
              <a:solidFill>
                <a:srgbClr val="000000"/>
              </a:solidFill>
              <a:ea typeface="Lato"/>
              <a:sym typeface="Lato"/>
            </a:endParaRPr>
          </a:p>
        </p:txBody>
      </p:sp>
      <p:sp>
        <p:nvSpPr>
          <p:cNvPr id="181" name="Google Shape;181;p29"/>
          <p:cNvSpPr/>
          <p:nvPr/>
        </p:nvSpPr>
        <p:spPr>
          <a:xfrm>
            <a:off x="1923860" y="1895921"/>
            <a:ext cx="5114400" cy="22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50"/>
              <a:buFont typeface="Arial"/>
              <a:buNone/>
            </a:pPr>
            <a:r>
              <a:rPr lang="de" sz="1650" b="1" i="0" u="none" strike="noStrike" cap="none">
                <a:solidFill>
                  <a:srgbClr val="17324D"/>
                </a:solidFill>
                <a:ea typeface="Lato"/>
                <a:sym typeface="Lato"/>
              </a:rPr>
              <a:t>Idee &amp; Ausschreibungen erstellen</a:t>
            </a:r>
            <a:endParaRPr sz="1650" i="0" u="none" strike="noStrike" cap="none">
              <a:solidFill>
                <a:srgbClr val="000000"/>
              </a:solidFill>
              <a:ea typeface="Lato"/>
              <a:sym typeface="Lato"/>
            </a:endParaRPr>
          </a:p>
        </p:txBody>
      </p:sp>
      <p:sp>
        <p:nvSpPr>
          <p:cNvPr id="182" name="Google Shape;182;p29"/>
          <p:cNvSpPr/>
          <p:nvPr/>
        </p:nvSpPr>
        <p:spPr>
          <a:xfrm>
            <a:off x="1923860" y="2170241"/>
            <a:ext cx="5534100" cy="36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de" sz="1200" i="0" u="none" strike="noStrike" cap="none">
                <a:solidFill>
                  <a:srgbClr val="516173"/>
                </a:solidFill>
                <a:ea typeface="Lato"/>
                <a:sym typeface="Lato"/>
              </a:rPr>
              <a:t>Geschäftsidee, Vision und Projekte beschreiben; Praktikum, Werkstudentenstelle oder Projektarbeit definieren.</a:t>
            </a:r>
            <a:endParaRPr sz="1200" i="0" u="none" strike="noStrike" cap="none">
              <a:solidFill>
                <a:srgbClr val="000000"/>
              </a:solidFill>
              <a:ea typeface="Lato"/>
              <a:sym typeface="Lato"/>
            </a:endParaRPr>
          </a:p>
        </p:txBody>
      </p:sp>
      <p:sp>
        <p:nvSpPr>
          <p:cNvPr id="183" name="Google Shape;183;p29"/>
          <p:cNvSpPr/>
          <p:nvPr/>
        </p:nvSpPr>
        <p:spPr>
          <a:xfrm>
            <a:off x="1320356" y="2597873"/>
            <a:ext cx="356100" cy="351600"/>
          </a:xfrm>
          <a:prstGeom prst="ellipse">
            <a:avLst/>
          </a:prstGeom>
          <a:solidFill>
            <a:srgbClr val="2B6CB0"/>
          </a:solidFill>
          <a:ln w="12700"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a typeface="Lato"/>
              <a:sym typeface="Lato"/>
            </a:endParaRPr>
          </a:p>
        </p:txBody>
      </p:sp>
      <p:sp>
        <p:nvSpPr>
          <p:cNvPr id="184" name="Google Shape;184;p29"/>
          <p:cNvSpPr/>
          <p:nvPr/>
        </p:nvSpPr>
        <p:spPr>
          <a:xfrm>
            <a:off x="1278922" y="2689313"/>
            <a:ext cx="4389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de" sz="1400" b="1" i="0" u="none" strike="noStrike" cap="none">
                <a:solidFill>
                  <a:srgbClr val="FFFFFF"/>
                </a:solidFill>
                <a:ea typeface="Lato"/>
                <a:sym typeface="Lato"/>
              </a:rPr>
              <a:t>3</a:t>
            </a:r>
            <a:endParaRPr sz="1400" i="0" u="none" strike="noStrike" cap="none">
              <a:solidFill>
                <a:srgbClr val="000000"/>
              </a:solidFill>
              <a:ea typeface="Lato"/>
              <a:sym typeface="Lato"/>
            </a:endParaRPr>
          </a:p>
        </p:txBody>
      </p:sp>
      <p:sp>
        <p:nvSpPr>
          <p:cNvPr id="185" name="Google Shape;185;p29"/>
          <p:cNvSpPr/>
          <p:nvPr/>
        </p:nvSpPr>
        <p:spPr>
          <a:xfrm>
            <a:off x="1923860" y="2579585"/>
            <a:ext cx="5114400" cy="22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50"/>
              <a:buFont typeface="Arial"/>
              <a:buNone/>
            </a:pPr>
            <a:r>
              <a:rPr lang="de" sz="1650" b="1" i="0" u="none" strike="noStrike" cap="none">
                <a:solidFill>
                  <a:srgbClr val="17324D"/>
                </a:solidFill>
                <a:ea typeface="Lato"/>
                <a:sym typeface="Lato"/>
              </a:rPr>
              <a:t>Passende Studierende suchen</a:t>
            </a:r>
            <a:endParaRPr sz="1650" i="0" u="none" strike="noStrike" cap="none">
              <a:solidFill>
                <a:srgbClr val="000000"/>
              </a:solidFill>
              <a:ea typeface="Lato"/>
              <a:sym typeface="Lato"/>
            </a:endParaRPr>
          </a:p>
        </p:txBody>
      </p:sp>
      <p:sp>
        <p:nvSpPr>
          <p:cNvPr id="186" name="Google Shape;186;p29"/>
          <p:cNvSpPr/>
          <p:nvPr/>
        </p:nvSpPr>
        <p:spPr>
          <a:xfrm>
            <a:off x="1923860" y="2852038"/>
            <a:ext cx="5534100" cy="299700"/>
          </a:xfrm>
          <a:prstGeom prst="rect">
            <a:avLst/>
          </a:prstGeom>
          <a:noFill/>
          <a:ln>
            <a:noFill/>
          </a:ln>
        </p:spPr>
        <p:txBody>
          <a:bodyPr spcFirstLastPara="1" wrap="square" lIns="0" tIns="0" rIns="0" bIns="0" anchor="ctr" anchorCtr="0">
            <a:noAutofit/>
          </a:bodyPr>
          <a:lstStyle/>
          <a:p>
            <a:pPr marL="0" marR="0" lvl="0" indent="0" algn="l" rtl="0">
              <a:lnSpc>
                <a:spcPct val="80000"/>
              </a:lnSpc>
              <a:spcBef>
                <a:spcPts val="0"/>
              </a:spcBef>
              <a:spcAft>
                <a:spcPts val="0"/>
              </a:spcAft>
              <a:buClr>
                <a:srgbClr val="000000"/>
              </a:buClr>
              <a:buSzPts val="1110"/>
              <a:buFont typeface="Arial"/>
              <a:buNone/>
            </a:pPr>
            <a:r>
              <a:rPr lang="de" sz="1110" i="0" u="none" strike="noStrike" cap="none">
                <a:solidFill>
                  <a:srgbClr val="516173"/>
                </a:solidFill>
                <a:ea typeface="Lato"/>
                <a:sym typeface="Lato"/>
              </a:rPr>
              <a:t>Nach Skills, Studiengang, Erfahrung und Verfügbarkeit filtern; Profile speichern oder direkt kontaktieren.</a:t>
            </a:r>
            <a:endParaRPr sz="1110" i="0" u="none" strike="noStrike" cap="none">
              <a:solidFill>
                <a:srgbClr val="000000"/>
              </a:solidFill>
              <a:ea typeface="Lato"/>
              <a:sym typeface="Lato"/>
            </a:endParaRPr>
          </a:p>
        </p:txBody>
      </p:sp>
      <p:sp>
        <p:nvSpPr>
          <p:cNvPr id="187" name="Google Shape;187;p29"/>
          <p:cNvSpPr/>
          <p:nvPr/>
        </p:nvSpPr>
        <p:spPr>
          <a:xfrm>
            <a:off x="1320356" y="3241172"/>
            <a:ext cx="356100" cy="351600"/>
          </a:xfrm>
          <a:prstGeom prst="ellipse">
            <a:avLst/>
          </a:prstGeom>
          <a:solidFill>
            <a:srgbClr val="2B6CB0"/>
          </a:solidFill>
          <a:ln w="12700"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a typeface="Lato"/>
              <a:sym typeface="Lato"/>
            </a:endParaRPr>
          </a:p>
        </p:txBody>
      </p:sp>
      <p:sp>
        <p:nvSpPr>
          <p:cNvPr id="188" name="Google Shape;188;p29"/>
          <p:cNvSpPr/>
          <p:nvPr/>
        </p:nvSpPr>
        <p:spPr>
          <a:xfrm>
            <a:off x="1278922" y="3323196"/>
            <a:ext cx="4389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de" sz="1400" b="1" i="0" u="none" strike="noStrike" cap="none">
                <a:solidFill>
                  <a:srgbClr val="FFFFFF"/>
                </a:solidFill>
                <a:ea typeface="Lato"/>
                <a:sym typeface="Lato"/>
              </a:rPr>
              <a:t>4</a:t>
            </a:r>
            <a:endParaRPr sz="1400" i="0" u="none" strike="noStrike" cap="none">
              <a:solidFill>
                <a:srgbClr val="000000"/>
              </a:solidFill>
              <a:ea typeface="Lato"/>
              <a:sym typeface="Lato"/>
            </a:endParaRPr>
          </a:p>
        </p:txBody>
      </p:sp>
      <p:sp>
        <p:nvSpPr>
          <p:cNvPr id="189" name="Google Shape;189;p29"/>
          <p:cNvSpPr/>
          <p:nvPr/>
        </p:nvSpPr>
        <p:spPr>
          <a:xfrm>
            <a:off x="1923860" y="3222884"/>
            <a:ext cx="5114400" cy="22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50"/>
              <a:buFont typeface="Arial"/>
              <a:buNone/>
            </a:pPr>
            <a:r>
              <a:rPr lang="de" sz="1650" b="1" i="0" u="none" strike="noStrike" cap="none">
                <a:solidFill>
                  <a:srgbClr val="17324D"/>
                </a:solidFill>
                <a:ea typeface="Lato"/>
                <a:sym typeface="Lato"/>
              </a:rPr>
              <a:t>Bewerbungen prüfen</a:t>
            </a:r>
            <a:endParaRPr sz="1650" i="0" u="none" strike="noStrike" cap="none">
              <a:solidFill>
                <a:srgbClr val="000000"/>
              </a:solidFill>
              <a:ea typeface="Lato"/>
              <a:sym typeface="Lato"/>
            </a:endParaRPr>
          </a:p>
        </p:txBody>
      </p:sp>
      <p:sp>
        <p:nvSpPr>
          <p:cNvPr id="190" name="Google Shape;190;p29"/>
          <p:cNvSpPr/>
          <p:nvPr/>
        </p:nvSpPr>
        <p:spPr>
          <a:xfrm>
            <a:off x="1923860" y="3501954"/>
            <a:ext cx="5534100" cy="3153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000000"/>
              </a:buClr>
              <a:buSzPts val="1110"/>
              <a:buFont typeface="Arial"/>
              <a:buNone/>
            </a:pPr>
            <a:r>
              <a:rPr lang="de" sz="1110" i="0" u="none" strike="noStrike" cap="none">
                <a:solidFill>
                  <a:srgbClr val="516173"/>
                </a:solidFill>
                <a:ea typeface="Lato"/>
                <a:sym typeface="Lato"/>
              </a:rPr>
              <a:t>Bewerberübersicht pro Ausschreibung nutzen, Profile/Lebensläufe ansehen und Bewerbungen vergleichen.</a:t>
            </a:r>
            <a:endParaRPr sz="1110" i="0" u="none" strike="noStrike" cap="none">
              <a:solidFill>
                <a:srgbClr val="000000"/>
              </a:solidFill>
              <a:ea typeface="Lato"/>
              <a:sym typeface="Lato"/>
            </a:endParaRPr>
          </a:p>
        </p:txBody>
      </p:sp>
      <p:sp>
        <p:nvSpPr>
          <p:cNvPr id="191" name="Google Shape;191;p29"/>
          <p:cNvSpPr/>
          <p:nvPr/>
        </p:nvSpPr>
        <p:spPr>
          <a:xfrm>
            <a:off x="1320356" y="3865298"/>
            <a:ext cx="356100" cy="351600"/>
          </a:xfrm>
          <a:prstGeom prst="ellipse">
            <a:avLst/>
          </a:prstGeom>
          <a:solidFill>
            <a:srgbClr val="2B6CB0"/>
          </a:solidFill>
          <a:ln w="12700" cap="flat" cmpd="sng">
            <a:solidFill>
              <a:srgbClr val="2B6CB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a typeface="Lato"/>
              <a:sym typeface="Lato"/>
            </a:endParaRPr>
          </a:p>
        </p:txBody>
      </p:sp>
      <p:sp>
        <p:nvSpPr>
          <p:cNvPr id="192" name="Google Shape;192;p29"/>
          <p:cNvSpPr/>
          <p:nvPr/>
        </p:nvSpPr>
        <p:spPr>
          <a:xfrm>
            <a:off x="1278922" y="3949594"/>
            <a:ext cx="4389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de" sz="1400" b="1" i="0" u="none" strike="noStrike" cap="none">
                <a:solidFill>
                  <a:srgbClr val="FFFFFF"/>
                </a:solidFill>
                <a:ea typeface="Lato"/>
                <a:sym typeface="Lato"/>
              </a:rPr>
              <a:t>5</a:t>
            </a:r>
            <a:endParaRPr sz="1400" i="0" u="none" strike="noStrike" cap="none">
              <a:solidFill>
                <a:srgbClr val="000000"/>
              </a:solidFill>
              <a:ea typeface="Lato"/>
              <a:sym typeface="Lato"/>
            </a:endParaRPr>
          </a:p>
        </p:txBody>
      </p:sp>
      <p:sp>
        <p:nvSpPr>
          <p:cNvPr id="193" name="Google Shape;193;p29"/>
          <p:cNvSpPr/>
          <p:nvPr/>
        </p:nvSpPr>
        <p:spPr>
          <a:xfrm>
            <a:off x="1923860" y="3847010"/>
            <a:ext cx="5114400" cy="22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50"/>
              <a:buFont typeface="Arial"/>
              <a:buNone/>
            </a:pPr>
            <a:r>
              <a:rPr lang="de" sz="1650" b="1" i="0" u="none" strike="noStrike" cap="none">
                <a:solidFill>
                  <a:srgbClr val="17324D"/>
                </a:solidFill>
                <a:ea typeface="Lato"/>
                <a:sym typeface="Lato"/>
              </a:rPr>
              <a:t>Status &amp; Interviews verwalten</a:t>
            </a:r>
            <a:endParaRPr sz="1650" i="0" u="none" strike="noStrike" cap="none">
              <a:solidFill>
                <a:srgbClr val="000000"/>
              </a:solidFill>
              <a:ea typeface="Lato"/>
              <a:sym typeface="Lato"/>
            </a:endParaRPr>
          </a:p>
        </p:txBody>
      </p:sp>
      <p:sp>
        <p:nvSpPr>
          <p:cNvPr id="194" name="Google Shape;194;p29"/>
          <p:cNvSpPr/>
          <p:nvPr/>
        </p:nvSpPr>
        <p:spPr>
          <a:xfrm>
            <a:off x="1923860" y="4120022"/>
            <a:ext cx="5534100" cy="36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de" sz="1200" i="0" u="none" strike="noStrike" cap="none">
                <a:solidFill>
                  <a:srgbClr val="516173"/>
                </a:solidFill>
                <a:ea typeface="Lato"/>
                <a:sym typeface="Lato"/>
              </a:rPr>
              <a:t>Bewerbungen markieren: „in Prüfung“, „Interview“, „angenommen“ oder „abgelehnt“; per Messaging koordinieren.</a:t>
            </a:r>
            <a:endParaRPr sz="1200" i="0" u="none" strike="noStrike" cap="none">
              <a:solidFill>
                <a:srgbClr val="000000"/>
              </a:solidFill>
              <a:ea typeface="Lato"/>
              <a:sym typeface="Lato"/>
            </a:endParaRPr>
          </a:p>
        </p:txBody>
      </p:sp>
      <p:sp>
        <p:nvSpPr>
          <p:cNvPr id="195" name="Google Shape;195;p29"/>
          <p:cNvSpPr/>
          <p:nvPr/>
        </p:nvSpPr>
        <p:spPr>
          <a:xfrm>
            <a:off x="1320356" y="4551095"/>
            <a:ext cx="356100" cy="351600"/>
          </a:xfrm>
          <a:prstGeom prst="ellipse">
            <a:avLst/>
          </a:prstGeom>
          <a:solidFill>
            <a:srgbClr val="00A6A6"/>
          </a:solidFill>
          <a:ln w="12700" cap="flat" cmpd="sng">
            <a:solidFill>
              <a:srgbClr val="00A6A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ea typeface="Lato"/>
              <a:sym typeface="Lato"/>
            </a:endParaRPr>
          </a:p>
        </p:txBody>
      </p:sp>
      <p:sp>
        <p:nvSpPr>
          <p:cNvPr id="196" name="Google Shape;196;p29"/>
          <p:cNvSpPr/>
          <p:nvPr/>
        </p:nvSpPr>
        <p:spPr>
          <a:xfrm>
            <a:off x="1278922" y="4635391"/>
            <a:ext cx="438900" cy="183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de" sz="1400" b="1" i="0" u="none" strike="noStrike" cap="none">
                <a:solidFill>
                  <a:srgbClr val="FFFFFF"/>
                </a:solidFill>
                <a:ea typeface="Lato"/>
                <a:sym typeface="Lato"/>
              </a:rPr>
              <a:t>6</a:t>
            </a:r>
            <a:endParaRPr sz="1400" i="0" u="none" strike="noStrike" cap="none">
              <a:solidFill>
                <a:srgbClr val="000000"/>
              </a:solidFill>
              <a:ea typeface="Lato"/>
              <a:sym typeface="Lato"/>
            </a:endParaRPr>
          </a:p>
        </p:txBody>
      </p:sp>
      <p:sp>
        <p:nvSpPr>
          <p:cNvPr id="197" name="Google Shape;197;p29"/>
          <p:cNvSpPr/>
          <p:nvPr/>
        </p:nvSpPr>
        <p:spPr>
          <a:xfrm>
            <a:off x="1923860" y="4532807"/>
            <a:ext cx="5114400" cy="22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50"/>
              <a:buFont typeface="Arial"/>
              <a:buNone/>
            </a:pPr>
            <a:r>
              <a:rPr lang="de" sz="1650" b="1" i="1" u="none" strike="noStrike" cap="none">
                <a:solidFill>
                  <a:srgbClr val="17324D"/>
                </a:solidFill>
                <a:ea typeface="Lato"/>
                <a:sym typeface="Lato"/>
              </a:rPr>
              <a:t>Kommunikation starten</a:t>
            </a:r>
            <a:endParaRPr sz="1650" i="1" u="none" strike="noStrike" cap="none">
              <a:solidFill>
                <a:srgbClr val="000000"/>
              </a:solidFill>
              <a:ea typeface="Lato"/>
              <a:sym typeface="Lato"/>
            </a:endParaRPr>
          </a:p>
        </p:txBody>
      </p:sp>
      <p:sp>
        <p:nvSpPr>
          <p:cNvPr id="198" name="Google Shape;198;p29"/>
          <p:cNvSpPr/>
          <p:nvPr/>
        </p:nvSpPr>
        <p:spPr>
          <a:xfrm>
            <a:off x="1923860" y="4716259"/>
            <a:ext cx="5534100" cy="366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de" sz="1100" i="1" u="none" strike="noStrike" cap="none">
                <a:solidFill>
                  <a:srgbClr val="516173"/>
                </a:solidFill>
                <a:ea typeface="Lato"/>
                <a:sym typeface="Lato"/>
              </a:rPr>
              <a:t>Bei Annahme per Chat die Details klären und ggf. Interview vereinbaren.</a:t>
            </a:r>
            <a:endParaRPr sz="1100" i="1" u="none" strike="noStrike" cap="none">
              <a:solidFill>
                <a:srgbClr val="000000"/>
              </a:solidFill>
              <a:ea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5" name="Google Shape;205;p30"/>
          <p:cNvPicPr preferRelativeResize="0"/>
          <p:nvPr/>
        </p:nvPicPr>
        <p:blipFill>
          <a:blip r:embed="rId3">
            <a:alphaModFix/>
          </a:blip>
          <a:stretch>
            <a:fillRect/>
          </a:stretch>
        </p:blipFill>
        <p:spPr>
          <a:xfrm>
            <a:off x="309531" y="-1511"/>
            <a:ext cx="9144001" cy="329267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11" name="Google Shape;211;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Bildschirmpräsentation (16:9)</PresentationFormat>
  <Slides>19</Slides>
  <Notes>19</Notes>
  <HiddenSlides>0</HiddenSlides>
  <ScaleCrop>false</ScaleCrop>
  <HeadingPairs>
    <vt:vector size="4" baseType="variant">
      <vt:variant>
        <vt:lpstr>Design</vt:lpstr>
      </vt:variant>
      <vt:variant>
        <vt:i4>1</vt:i4>
      </vt:variant>
      <vt:variant>
        <vt:lpstr>Folientitel</vt:lpstr>
      </vt:variant>
      <vt:variant>
        <vt:i4>19</vt:i4>
      </vt:variant>
    </vt:vector>
  </HeadingPairs>
  <TitlesOfParts>
    <vt:vector size="20" baseType="lpstr">
      <vt:lpstr>Simple Light</vt:lpstr>
      <vt:lpstr>SE-2 Projekt Team Vorstellung</vt:lpstr>
      <vt:lpstr>Mitglieder</vt:lpstr>
      <vt:lpstr>Rollenverteilung</vt:lpstr>
      <vt:lpstr>Tools</vt:lpstr>
      <vt:lpstr>Vision</vt:lpstr>
      <vt:lpstr>Glossar </vt:lpstr>
      <vt:lpstr>Personas - Student</vt:lpstr>
      <vt:lpstr>Personas - Start-Up-Gründer</vt:lpstr>
      <vt:lpstr>Stakeholder-Tabelle und -Portfolio </vt:lpstr>
      <vt:lpstr>PowerPoint-Präsentation</vt:lpstr>
      <vt:lpstr>UML Paketdiagramm</vt:lpstr>
      <vt:lpstr>Mock-Up</vt:lpstr>
      <vt:lpstr>PowerPoint-Präsentation</vt:lpstr>
      <vt:lpstr>PowerPoint-Präsentation</vt:lpstr>
      <vt:lpstr>PowerPoint-Präsentation</vt:lpstr>
      <vt:lpstr>Szenario 1: Student </vt:lpstr>
      <vt:lpstr>Szenario 2: Start-Up</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20</cp:revision>
  <dcterms:modified xsi:type="dcterms:W3CDTF">2026-06-09T08:46:17Z</dcterms:modified>
</cp:coreProperties>
</file>